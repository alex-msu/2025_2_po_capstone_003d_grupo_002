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Raleway Bold" charset="1" panose="00000000000000000000"/>
      <p:regular r:id="rId22"/>
    </p:embeddedFont>
    <p:embeddedFont>
      <p:font typeface="Montaser Arabic Bold" charset="1" panose="00000800000000000000"/>
      <p:regular r:id="rId23"/>
    </p:embeddedFont>
    <p:embeddedFont>
      <p:font typeface="Montaser Arabic" charset="1" panose="00000500000000000000"/>
      <p:regular r:id="rId24"/>
    </p:embeddedFont>
    <p:embeddedFont>
      <p:font typeface="Helios Extended" charset="1" panose="02000505040000020004"/>
      <p:regular r:id="rId25"/>
    </p:embeddedFont>
    <p:embeddedFont>
      <p:font typeface="Open Sans" charset="1" panose="020B0606030504020204"/>
      <p:regular r:id="rId26"/>
    </p:embeddedFont>
    <p:embeddedFont>
      <p:font typeface="Open Sans Bold" charset="1" panose="020B0806030504020204"/>
      <p:regular r:id="rId27"/>
    </p:embeddedFont>
    <p:embeddedFont>
      <p:font typeface="Inter Bold" charset="1" panose="020B0802030000000004"/>
      <p:regular r:id="rId28"/>
    </p:embeddedFont>
    <p:embeddedFont>
      <p:font typeface="Inter" charset="1" panose="020B0502030000000004"/>
      <p:regular r:id="rId29"/>
    </p:embeddedFont>
    <p:embeddedFont>
      <p:font typeface="Inter Bold Italics" charset="1" panose="020B0802030000000004"/>
      <p:regular r:id="rId30"/>
    </p:embeddedFont>
    <p:embeddedFont>
      <p:font typeface="Inter Italics" charset="1" panose="020B0502030000000004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1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17.png" Type="http://schemas.openxmlformats.org/officeDocument/2006/relationships/image"/><Relationship Id="rId7" Target="../embeddings/oleObject1.bin" Type="http://schemas.openxmlformats.org/officeDocument/2006/relationships/oleObjec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6.svg" Type="http://schemas.openxmlformats.org/officeDocument/2006/relationships/image"/><Relationship Id="rId11" Target="../media/image27.png" Type="http://schemas.openxmlformats.org/officeDocument/2006/relationships/image"/><Relationship Id="rId12" Target="../media/image28.svg" Type="http://schemas.openxmlformats.org/officeDocument/2006/relationships/image"/><Relationship Id="rId13" Target="../media/image29.png" Type="http://schemas.openxmlformats.org/officeDocument/2006/relationships/image"/><Relationship Id="rId14" Target="../media/image30.svg" Type="http://schemas.openxmlformats.org/officeDocument/2006/relationships/image"/><Relationship Id="rId15" Target="../media/image31.png" Type="http://schemas.openxmlformats.org/officeDocument/2006/relationships/image"/><Relationship Id="rId16" Target="../media/image32.svg" Type="http://schemas.openxmlformats.org/officeDocument/2006/relationships/image"/><Relationship Id="rId2" Target="../media/image18.jpeg" Type="http://schemas.openxmlformats.org/officeDocument/2006/relationships/image"/><Relationship Id="rId3" Target="../media/image19.png" Type="http://schemas.openxmlformats.org/officeDocument/2006/relationships/image"/><Relationship Id="rId4" Target="../media/image20.svg" Type="http://schemas.openxmlformats.org/officeDocument/2006/relationships/image"/><Relationship Id="rId5" Target="../media/image21.png" Type="http://schemas.openxmlformats.org/officeDocument/2006/relationships/image"/><Relationship Id="rId6" Target="../media/image22.svg" Type="http://schemas.openxmlformats.org/officeDocument/2006/relationships/image"/><Relationship Id="rId7" Target="../media/image23.png" Type="http://schemas.openxmlformats.org/officeDocument/2006/relationships/image"/><Relationship Id="rId8" Target="../media/image24.svg" Type="http://schemas.openxmlformats.org/officeDocument/2006/relationships/image"/><Relationship Id="rId9" Target="../media/image2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6.svg" Type="http://schemas.openxmlformats.org/officeDocument/2006/relationships/image"/><Relationship Id="rId11" Target="../media/image27.png" Type="http://schemas.openxmlformats.org/officeDocument/2006/relationships/image"/><Relationship Id="rId12" Target="../media/image28.svg" Type="http://schemas.openxmlformats.org/officeDocument/2006/relationships/image"/><Relationship Id="rId13" Target="../media/image29.png" Type="http://schemas.openxmlformats.org/officeDocument/2006/relationships/image"/><Relationship Id="rId14" Target="../media/image30.svg" Type="http://schemas.openxmlformats.org/officeDocument/2006/relationships/image"/><Relationship Id="rId15" Target="../media/image31.png" Type="http://schemas.openxmlformats.org/officeDocument/2006/relationships/image"/><Relationship Id="rId16" Target="../media/image32.svg" Type="http://schemas.openxmlformats.org/officeDocument/2006/relationships/image"/><Relationship Id="rId17" Target="../media/image33.png" Type="http://schemas.openxmlformats.org/officeDocument/2006/relationships/image"/><Relationship Id="rId18" Target="../media/image34.svg" Type="http://schemas.openxmlformats.org/officeDocument/2006/relationships/image"/><Relationship Id="rId2" Target="../media/image18.jpeg" Type="http://schemas.openxmlformats.org/officeDocument/2006/relationships/image"/><Relationship Id="rId3" Target="../media/image19.png" Type="http://schemas.openxmlformats.org/officeDocument/2006/relationships/image"/><Relationship Id="rId4" Target="../media/image20.svg" Type="http://schemas.openxmlformats.org/officeDocument/2006/relationships/image"/><Relationship Id="rId5" Target="../media/image21.png" Type="http://schemas.openxmlformats.org/officeDocument/2006/relationships/image"/><Relationship Id="rId6" Target="../media/image22.svg" Type="http://schemas.openxmlformats.org/officeDocument/2006/relationships/image"/><Relationship Id="rId7" Target="../media/image23.png" Type="http://schemas.openxmlformats.org/officeDocument/2006/relationships/image"/><Relationship Id="rId8" Target="../media/image24.svg" Type="http://schemas.openxmlformats.org/officeDocument/2006/relationships/image"/><Relationship Id="rId9" Target="../media/image2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3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38.png" Type="http://schemas.openxmlformats.org/officeDocument/2006/relationships/image"/><Relationship Id="rId9" Target="../media/image3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4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4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42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43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Relationship Id="rId3" Target="../media/image45.svg" Type="http://schemas.openxmlformats.org/officeDocument/2006/relationships/image"/><Relationship Id="rId4" Target="../media/image46.png" Type="http://schemas.openxmlformats.org/officeDocument/2006/relationships/image"/><Relationship Id="rId5" Target="../media/image47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27790" y="3025717"/>
            <a:ext cx="8288735" cy="7549656"/>
          </a:xfrm>
          <a:custGeom>
            <a:avLst/>
            <a:gdLst/>
            <a:ahLst/>
            <a:cxnLst/>
            <a:rect r="r" b="b" t="t" l="l"/>
            <a:pathLst>
              <a:path h="7549656" w="8288735">
                <a:moveTo>
                  <a:pt x="0" y="0"/>
                </a:moveTo>
                <a:lnTo>
                  <a:pt x="8288735" y="0"/>
                </a:lnTo>
                <a:lnTo>
                  <a:pt x="8288735" y="7549656"/>
                </a:lnTo>
                <a:lnTo>
                  <a:pt x="0" y="7549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459514" y="-1673036"/>
            <a:ext cx="2794156" cy="5846533"/>
          </a:xfrm>
          <a:custGeom>
            <a:avLst/>
            <a:gdLst/>
            <a:ahLst/>
            <a:cxnLst/>
            <a:rect r="r" b="b" t="t" l="l"/>
            <a:pathLst>
              <a:path h="5846533" w="2794156">
                <a:moveTo>
                  <a:pt x="0" y="5846533"/>
                </a:moveTo>
                <a:lnTo>
                  <a:pt x="2794156" y="5846533"/>
                </a:lnTo>
                <a:lnTo>
                  <a:pt x="2794156" y="0"/>
                </a:lnTo>
                <a:lnTo>
                  <a:pt x="0" y="0"/>
                </a:lnTo>
                <a:lnTo>
                  <a:pt x="0" y="584653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528870" y="7929234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381263" y="766104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855020" y="3025798"/>
            <a:ext cx="14491076" cy="3668110"/>
            <a:chOff x="0" y="0"/>
            <a:chExt cx="19321435" cy="489081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04775"/>
              <a:ext cx="17330134" cy="43838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2735"/>
                </a:lnSpc>
              </a:pPr>
              <a:r>
                <a:rPr lang="en-US" b="true" sz="11577">
                  <a:solidFill>
                    <a:srgbClr val="FFFFFF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Avance Final Proyecto APT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4507696"/>
              <a:ext cx="19321435" cy="3831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00"/>
                </a:lnSpc>
              </a:pPr>
              <a:r>
                <a:rPr lang="en-US" b="true" sz="2000">
                  <a:solidFill>
                    <a:srgbClr val="FFFFFF"/>
                  </a:solidFill>
                  <a:latin typeface="Montaser Arabic Bold"/>
                  <a:ea typeface="Montaser Arabic Bold"/>
                  <a:cs typeface="Montaser Arabic Bold"/>
                  <a:sym typeface="Montaser Arabic Bold"/>
                </a:rPr>
                <a:t>Capstone_003D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1282" y="9040906"/>
            <a:ext cx="5177159" cy="1174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2000" b="true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Integrantes:</a:t>
            </a:r>
          </a:p>
          <a:p>
            <a:pPr algn="just" marL="431801" indent="-215900" lvl="1">
              <a:lnSpc>
                <a:spcPts val="238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Benjamín Briceño</a:t>
            </a:r>
          </a:p>
          <a:p>
            <a:pPr algn="just" marL="431801" indent="-215900" lvl="1">
              <a:lnSpc>
                <a:spcPts val="238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Alexis Martínez</a:t>
            </a:r>
          </a:p>
          <a:p>
            <a:pPr algn="just" marL="431801" indent="-215900" lvl="1">
              <a:lnSpc>
                <a:spcPts val="238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Joaquín Parada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774717" y="2837740"/>
            <a:ext cx="771999" cy="771999"/>
            <a:chOff x="0" y="0"/>
            <a:chExt cx="6350000" cy="6350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74717" y="4117580"/>
            <a:ext cx="771999" cy="771999"/>
            <a:chOff x="0" y="0"/>
            <a:chExt cx="6350000" cy="6350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774717" y="6677261"/>
            <a:ext cx="771999" cy="771999"/>
            <a:chOff x="0" y="0"/>
            <a:chExt cx="6350000" cy="6350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4774717" y="5397421"/>
            <a:ext cx="771999" cy="771999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Freeform 10" id="10"/>
          <p:cNvSpPr/>
          <p:nvPr/>
        </p:nvSpPr>
        <p:spPr>
          <a:xfrm flipH="true" flipV="false" rot="0">
            <a:off x="-394550" y="4877314"/>
            <a:ext cx="4627096" cy="5712464"/>
          </a:xfrm>
          <a:custGeom>
            <a:avLst/>
            <a:gdLst/>
            <a:ahLst/>
            <a:cxnLst/>
            <a:rect r="r" b="b" t="t" l="l"/>
            <a:pathLst>
              <a:path h="5712464" w="4627096">
                <a:moveTo>
                  <a:pt x="4627096" y="0"/>
                </a:moveTo>
                <a:lnTo>
                  <a:pt x="0" y="0"/>
                </a:lnTo>
                <a:lnTo>
                  <a:pt x="0" y="5712464"/>
                </a:lnTo>
                <a:lnTo>
                  <a:pt x="4627096" y="5712464"/>
                </a:lnTo>
                <a:lnTo>
                  <a:pt x="462709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6190535" y="2607281"/>
            <a:ext cx="7322748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42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Carta Gantt y Avance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190535" y="3859690"/>
            <a:ext cx="7322748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8400"/>
              </a:lnSpc>
              <a:spcBef>
                <a:spcPct val="0"/>
              </a:spcBef>
            </a:pPr>
            <a:r>
              <a:rPr lang="en-US" sz="42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Evidencias</a:t>
            </a:r>
          </a:p>
        </p:txBody>
      </p:sp>
      <p:sp>
        <p:nvSpPr>
          <p:cNvPr name="Freeform 13" id="13"/>
          <p:cNvSpPr/>
          <p:nvPr/>
        </p:nvSpPr>
        <p:spPr>
          <a:xfrm flipH="true" flipV="false" rot="0">
            <a:off x="13643065" y="-227459"/>
            <a:ext cx="4854933" cy="5396868"/>
          </a:xfrm>
          <a:custGeom>
            <a:avLst/>
            <a:gdLst/>
            <a:ahLst/>
            <a:cxnLst/>
            <a:rect r="r" b="b" t="t" l="l"/>
            <a:pathLst>
              <a:path h="5396868" w="4854933">
                <a:moveTo>
                  <a:pt x="4854932" y="0"/>
                </a:moveTo>
                <a:lnTo>
                  <a:pt x="0" y="0"/>
                </a:lnTo>
                <a:lnTo>
                  <a:pt x="0" y="5396868"/>
                </a:lnTo>
                <a:lnTo>
                  <a:pt x="4854932" y="5396868"/>
                </a:lnTo>
                <a:lnTo>
                  <a:pt x="485493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10800000">
            <a:off x="14746112" y="87527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1" y="0"/>
                </a:lnTo>
                <a:lnTo>
                  <a:pt x="4527361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4888111" y="2808259"/>
            <a:ext cx="545211" cy="688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b="true" sz="36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888111" y="4088099"/>
            <a:ext cx="545211" cy="688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5652"/>
              </a:lnSpc>
              <a:spcBef>
                <a:spcPct val="0"/>
              </a:spcBef>
            </a:pPr>
            <a:r>
              <a:rPr lang="en-US" b="true" sz="3600" u="none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130264" y="5145509"/>
            <a:ext cx="7322748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8400"/>
              </a:lnSpc>
              <a:spcBef>
                <a:spcPct val="0"/>
              </a:spcBef>
            </a:pPr>
            <a:r>
              <a:rPr lang="en-US" sz="42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888111" y="6647780"/>
            <a:ext cx="545211" cy="688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5652"/>
              </a:lnSpc>
              <a:spcBef>
                <a:spcPct val="0"/>
              </a:spcBef>
            </a:pPr>
            <a:r>
              <a:rPr lang="en-US" b="true" sz="3600" u="none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4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888111" y="5367940"/>
            <a:ext cx="545211" cy="688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1">
              <a:lnSpc>
                <a:spcPts val="5652"/>
              </a:lnSpc>
              <a:spcBef>
                <a:spcPct val="0"/>
              </a:spcBef>
            </a:pPr>
            <a:r>
              <a:rPr lang="en-US" b="true" sz="3600" u="none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3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130264" y="6419371"/>
            <a:ext cx="7322748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8400"/>
              </a:lnSpc>
              <a:spcBef>
                <a:spcPct val="0"/>
              </a:spcBef>
            </a:pPr>
            <a:r>
              <a:rPr lang="en-US" sz="42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Próximos Pasos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015206" y="1251775"/>
            <a:ext cx="4257587" cy="1219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540"/>
              </a:lnSpc>
              <a:spcBef>
                <a:spcPct val="0"/>
              </a:spcBef>
            </a:pPr>
            <a:r>
              <a:rPr lang="en-US" b="true" sz="795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Índice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15447989" y="-1447800"/>
            <a:ext cx="4913194" cy="4114800"/>
          </a:xfrm>
          <a:custGeom>
            <a:avLst/>
            <a:gdLst/>
            <a:ahLst/>
            <a:cxnLst/>
            <a:rect r="r" b="b" t="t" l="l"/>
            <a:pathLst>
              <a:path h="4114800" w="4913194">
                <a:moveTo>
                  <a:pt x="4913194" y="0"/>
                </a:moveTo>
                <a:lnTo>
                  <a:pt x="0" y="0"/>
                </a:lnTo>
                <a:lnTo>
                  <a:pt x="0" y="4114800"/>
                </a:lnTo>
                <a:lnTo>
                  <a:pt x="4913194" y="4114800"/>
                </a:lnTo>
                <a:lnTo>
                  <a:pt x="491319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446317" y="6840589"/>
            <a:ext cx="2794156" cy="5846533"/>
          </a:xfrm>
          <a:custGeom>
            <a:avLst/>
            <a:gdLst/>
            <a:ahLst/>
            <a:cxnLst/>
            <a:rect r="r" b="b" t="t" l="l"/>
            <a:pathLst>
              <a:path h="5846533" w="2794156">
                <a:moveTo>
                  <a:pt x="0" y="0"/>
                </a:moveTo>
                <a:lnTo>
                  <a:pt x="2794155" y="0"/>
                </a:lnTo>
                <a:lnTo>
                  <a:pt x="2794155" y="5846533"/>
                </a:lnTo>
                <a:lnTo>
                  <a:pt x="0" y="584653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3730362" y="9258300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1595510" y="1393187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578728" y="-9525"/>
            <a:ext cx="5840365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Carta Gantt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245671" y="1500822"/>
            <a:ext cx="15796658" cy="8073133"/>
            <a:chOff x="0" y="0"/>
            <a:chExt cx="21062210" cy="10764177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9067627" y="10048892"/>
              <a:ext cx="2926956" cy="71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49"/>
                </a:lnSpc>
                <a:spcBef>
                  <a:spcPct val="0"/>
                </a:spcBef>
              </a:pPr>
              <a:r>
                <a:rPr lang="en-US" sz="3178">
                  <a:solidFill>
                    <a:srgbClr val="FFFFFF"/>
                  </a:solidFill>
                  <a:latin typeface="Helios Extended"/>
                  <a:ea typeface="Helios Extended"/>
                  <a:cs typeface="Helios Extended"/>
                  <a:sym typeface="Helios Extended"/>
                </a:rPr>
                <a:t>Semanas</a:t>
              </a:r>
            </a:p>
          </p:txBody>
        </p:sp>
        <p:pic>
          <p:nvPicPr>
            <p:cNvPr name="Picture 9" id="9"/>
            <p:cNvPicPr>
              <a:picLocks noChangeAspect="true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0">
              <a:off x="-2106221" y="-2106221"/>
              <a:ext cx="25274652" cy="14091291"/>
            </a:xfrm>
            <a:prstGeom prst="rect">
              <a:avLst/>
            </a:prstGeom>
          </p:spPr>
        </p:pic>
      </p:grpSp>
      <p:sp>
        <p:nvSpPr>
          <p:cNvPr name="AutoShape 10" id="10"/>
          <p:cNvSpPr/>
          <p:nvPr/>
        </p:nvSpPr>
        <p:spPr>
          <a:xfrm flipH="true">
            <a:off x="5066699" y="2378643"/>
            <a:ext cx="0" cy="6187222"/>
          </a:xfrm>
          <a:prstGeom prst="line">
            <a:avLst/>
          </a:prstGeom>
          <a:ln cap="flat" w="38100">
            <a:solidFill>
              <a:srgbClr val="FFFFFF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flipH="true">
            <a:off x="8621753" y="2378643"/>
            <a:ext cx="0" cy="6187222"/>
          </a:xfrm>
          <a:prstGeom prst="line">
            <a:avLst/>
          </a:prstGeom>
          <a:ln cap="flat" w="38100">
            <a:solidFill>
              <a:srgbClr val="FFFFFF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4766661" y="2093210"/>
            <a:ext cx="600075" cy="285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9"/>
              </a:lnSpc>
            </a:pPr>
            <a:r>
              <a:rPr lang="en-US" sz="16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Hito 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321716" y="2093210"/>
            <a:ext cx="600075" cy="285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9"/>
              </a:lnSpc>
            </a:pPr>
            <a:r>
              <a:rPr lang="en-US" sz="16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Hito 2 </a:t>
            </a:r>
          </a:p>
        </p:txBody>
      </p:sp>
      <p:sp>
        <p:nvSpPr>
          <p:cNvPr name="AutoShape 14" id="14"/>
          <p:cNvSpPr/>
          <p:nvPr/>
        </p:nvSpPr>
        <p:spPr>
          <a:xfrm flipH="true">
            <a:off x="13060403" y="2378643"/>
            <a:ext cx="0" cy="6187222"/>
          </a:xfrm>
          <a:prstGeom prst="line">
            <a:avLst/>
          </a:prstGeom>
          <a:ln cap="flat" w="38100">
            <a:solidFill>
              <a:srgbClr val="FFFFFF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12760366" y="2093210"/>
            <a:ext cx="600075" cy="285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9"/>
              </a:lnSpc>
            </a:pPr>
            <a:r>
              <a:rPr lang="en-US" sz="16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Hito 3</a:t>
            </a:r>
          </a:p>
        </p:txBody>
      </p:sp>
      <p:sp>
        <p:nvSpPr>
          <p:cNvPr name="AutoShape 16" id="16"/>
          <p:cNvSpPr/>
          <p:nvPr/>
        </p:nvSpPr>
        <p:spPr>
          <a:xfrm flipH="true">
            <a:off x="15694006" y="2378643"/>
            <a:ext cx="0" cy="6187222"/>
          </a:xfrm>
          <a:prstGeom prst="line">
            <a:avLst/>
          </a:prstGeom>
          <a:ln cap="flat" w="38100">
            <a:solidFill>
              <a:srgbClr val="FFFFFF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15393968" y="2093210"/>
            <a:ext cx="600075" cy="285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9"/>
              </a:lnSpc>
            </a:pPr>
            <a:r>
              <a:rPr lang="en-US" sz="16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Hito 4</a:t>
            </a:r>
          </a:p>
        </p:txBody>
      </p:sp>
      <p:sp>
        <p:nvSpPr>
          <p:cNvPr name="AutoShape 18" id="18"/>
          <p:cNvSpPr/>
          <p:nvPr/>
        </p:nvSpPr>
        <p:spPr>
          <a:xfrm flipH="true">
            <a:off x="16579831" y="2378643"/>
            <a:ext cx="9331" cy="6187222"/>
          </a:xfrm>
          <a:prstGeom prst="line">
            <a:avLst/>
          </a:prstGeom>
          <a:ln cap="flat" w="38100">
            <a:solidFill>
              <a:srgbClr val="FFFFFF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TextBox 19" id="19"/>
          <p:cNvSpPr txBox="true"/>
          <p:nvPr/>
        </p:nvSpPr>
        <p:spPr>
          <a:xfrm rot="0">
            <a:off x="16289318" y="2093210"/>
            <a:ext cx="600075" cy="285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9"/>
              </a:lnSpc>
            </a:pPr>
            <a:r>
              <a:rPr lang="en-US" sz="16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Hito 5</a:t>
            </a:r>
          </a:p>
        </p:txBody>
      </p:sp>
      <p:sp>
        <p:nvSpPr>
          <p:cNvPr name="AutoShape 20" id="20"/>
          <p:cNvSpPr/>
          <p:nvPr/>
        </p:nvSpPr>
        <p:spPr>
          <a:xfrm flipH="true">
            <a:off x="14824879" y="2378643"/>
            <a:ext cx="0" cy="6187222"/>
          </a:xfrm>
          <a:prstGeom prst="line">
            <a:avLst/>
          </a:prstGeom>
          <a:ln cap="flat" w="38100">
            <a:solidFill>
              <a:srgbClr val="D9505D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TextBox 21" id="21"/>
          <p:cNvSpPr txBox="true"/>
          <p:nvPr/>
        </p:nvSpPr>
        <p:spPr>
          <a:xfrm rot="0">
            <a:off x="14524842" y="2093210"/>
            <a:ext cx="600075" cy="285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9"/>
              </a:lnSpc>
            </a:pPr>
            <a:r>
              <a:rPr lang="en-US" sz="1699">
                <a:solidFill>
                  <a:srgbClr val="D9505D"/>
                </a:solidFill>
                <a:latin typeface="Open Sans"/>
                <a:ea typeface="Open Sans"/>
                <a:cs typeface="Open Sans"/>
                <a:sym typeface="Open Sans"/>
              </a:rPr>
              <a:t>Hito 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15082494" y="-1447800"/>
            <a:ext cx="4913194" cy="4114800"/>
          </a:xfrm>
          <a:custGeom>
            <a:avLst/>
            <a:gdLst/>
            <a:ahLst/>
            <a:cxnLst/>
            <a:rect r="r" b="b" t="t" l="l"/>
            <a:pathLst>
              <a:path h="4114800" w="4913194">
                <a:moveTo>
                  <a:pt x="4913194" y="0"/>
                </a:moveTo>
                <a:lnTo>
                  <a:pt x="0" y="0"/>
                </a:lnTo>
                <a:lnTo>
                  <a:pt x="0" y="4114800"/>
                </a:lnTo>
                <a:lnTo>
                  <a:pt x="4913194" y="4114800"/>
                </a:lnTo>
                <a:lnTo>
                  <a:pt x="491319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313409" y="6840589"/>
            <a:ext cx="2794156" cy="5846533"/>
          </a:xfrm>
          <a:custGeom>
            <a:avLst/>
            <a:gdLst/>
            <a:ahLst/>
            <a:cxnLst/>
            <a:rect r="r" b="b" t="t" l="l"/>
            <a:pathLst>
              <a:path h="5846533" w="2794156">
                <a:moveTo>
                  <a:pt x="0" y="0"/>
                </a:moveTo>
                <a:lnTo>
                  <a:pt x="2794156" y="0"/>
                </a:lnTo>
                <a:lnTo>
                  <a:pt x="2794156" y="5846533"/>
                </a:lnTo>
                <a:lnTo>
                  <a:pt x="0" y="584653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5275410" y="9566802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2093912" y="7136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6" id="6"/>
          <p:cNvGraphicFramePr>
            <a:graphicFrameLocks noGrp="true"/>
          </p:cNvGraphicFramePr>
          <p:nvPr/>
        </p:nvGraphicFramePr>
        <p:xfrm>
          <a:off x="1028700" y="3691280"/>
          <a:ext cx="16633741" cy="3410168"/>
        </p:xfrm>
        <a:graphic>
          <a:graphicData uri="http://schemas.openxmlformats.org/drawingml/2006/table">
            <a:tbl>
              <a:tblPr/>
              <a:tblGrid>
                <a:gridCol w="3798511"/>
                <a:gridCol w="1573496"/>
                <a:gridCol w="1874515"/>
                <a:gridCol w="1201567"/>
                <a:gridCol w="1261770"/>
                <a:gridCol w="6923881"/>
              </a:tblGrid>
              <a:tr h="525828"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Riesgo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14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Probabilidad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14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Impacto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14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Prioridad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14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Magnitud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14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Acción Especifica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149"/>
                    </a:solidFill>
                  </a:tcPr>
                </a:tc>
              </a:tr>
              <a:tr h="1035848"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5F5F5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Retraso en desarrollo de módulos críticos (login, registro, estados)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505D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Alta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Alto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Alta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🔴9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Dividir en submódulos, paralelizar, revisiones semanales, burn-down visible; descope de extras si es necesario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3584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5F5F5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Fallos de integración Front–Back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D5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Media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Medio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Alta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🟡4.0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Contratos API (OpenAPI), pruebas de contrato, ambientes locales alineados, CI de integración temprana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2644"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5F5F5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Baja disponibilidad de integrantes clave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D5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Media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Alto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Alta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04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🟡4.7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80"/>
                        </a:lnSpc>
                        <a:defRPr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Documentación viva, handover semanal, tableros visibles; plan B de reasignación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668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7" id="7"/>
          <p:cNvSpPr txBox="true"/>
          <p:nvPr/>
        </p:nvSpPr>
        <p:spPr>
          <a:xfrm rot="0">
            <a:off x="864264" y="95250"/>
            <a:ext cx="5402718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Evidencias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266982" y="704850"/>
            <a:ext cx="3516235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(Matriz de Riesgos)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77147" y="3054202"/>
            <a:ext cx="7113214" cy="428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Riesgos considerados que se cumplieron: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200352" y="1311455"/>
            <a:ext cx="12781467" cy="8975545"/>
          </a:xfrm>
          <a:custGeom>
            <a:avLst/>
            <a:gdLst/>
            <a:ahLst/>
            <a:cxnLst/>
            <a:rect r="r" b="b" t="t" l="l"/>
            <a:pathLst>
              <a:path h="8975545" w="12781467">
                <a:moveTo>
                  <a:pt x="0" y="0"/>
                </a:moveTo>
                <a:lnTo>
                  <a:pt x="12781467" y="0"/>
                </a:lnTo>
                <a:lnTo>
                  <a:pt x="12781467" y="8975545"/>
                </a:lnTo>
                <a:lnTo>
                  <a:pt x="0" y="8975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758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447989" y="-1447800"/>
            <a:ext cx="4913194" cy="4114800"/>
          </a:xfrm>
          <a:custGeom>
            <a:avLst/>
            <a:gdLst/>
            <a:ahLst/>
            <a:cxnLst/>
            <a:rect r="r" b="b" t="t" l="l"/>
            <a:pathLst>
              <a:path h="4114800" w="4913194">
                <a:moveTo>
                  <a:pt x="4913194" y="0"/>
                </a:moveTo>
                <a:lnTo>
                  <a:pt x="0" y="0"/>
                </a:lnTo>
                <a:lnTo>
                  <a:pt x="0" y="4114800"/>
                </a:lnTo>
                <a:lnTo>
                  <a:pt x="4913194" y="4114800"/>
                </a:lnTo>
                <a:lnTo>
                  <a:pt x="4913194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64082" y="7922622"/>
            <a:ext cx="2094358" cy="4382265"/>
          </a:xfrm>
          <a:custGeom>
            <a:avLst/>
            <a:gdLst/>
            <a:ahLst/>
            <a:cxnLst/>
            <a:rect r="r" b="b" t="t" l="l"/>
            <a:pathLst>
              <a:path h="4382265" w="2094358">
                <a:moveTo>
                  <a:pt x="0" y="0"/>
                </a:moveTo>
                <a:lnTo>
                  <a:pt x="2094357" y="0"/>
                </a:lnTo>
                <a:lnTo>
                  <a:pt x="2094357" y="4382265"/>
                </a:lnTo>
                <a:lnTo>
                  <a:pt x="0" y="438226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5051121" y="7044120"/>
            <a:ext cx="2740355" cy="3060908"/>
            <a:chOff x="0" y="0"/>
            <a:chExt cx="641544" cy="71658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41544" cy="716589"/>
            </a:xfrm>
            <a:custGeom>
              <a:avLst/>
              <a:gdLst/>
              <a:ahLst/>
              <a:cxnLst/>
              <a:rect r="r" b="b" t="t" l="l"/>
              <a:pathLst>
                <a:path h="716589" w="641544">
                  <a:moveTo>
                    <a:pt x="0" y="0"/>
                  </a:moveTo>
                  <a:lnTo>
                    <a:pt x="641544" y="0"/>
                  </a:lnTo>
                  <a:lnTo>
                    <a:pt x="641544" y="716589"/>
                  </a:lnTo>
                  <a:lnTo>
                    <a:pt x="0" y="7165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D9505D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641544" cy="7546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426617" y="49585"/>
            <a:ext cx="5402718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Evidencias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829336" y="659185"/>
            <a:ext cx="276175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(To-Be)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004526" y="5099600"/>
            <a:ext cx="1786950" cy="1399255"/>
            <a:chOff x="0" y="0"/>
            <a:chExt cx="418343" cy="32757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18343" cy="327579"/>
            </a:xfrm>
            <a:custGeom>
              <a:avLst/>
              <a:gdLst/>
              <a:ahLst/>
              <a:cxnLst/>
              <a:rect r="r" b="b" t="t" l="l"/>
              <a:pathLst>
                <a:path h="327579" w="418343">
                  <a:moveTo>
                    <a:pt x="0" y="0"/>
                  </a:moveTo>
                  <a:lnTo>
                    <a:pt x="418343" y="0"/>
                  </a:lnTo>
                  <a:lnTo>
                    <a:pt x="418343" y="327579"/>
                  </a:lnTo>
                  <a:lnTo>
                    <a:pt x="0" y="3275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D9505D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418343" cy="3656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577316" y="1488873"/>
            <a:ext cx="1008152" cy="732242"/>
            <a:chOff x="0" y="0"/>
            <a:chExt cx="236018" cy="17142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36018" cy="171425"/>
            </a:xfrm>
            <a:custGeom>
              <a:avLst/>
              <a:gdLst/>
              <a:ahLst/>
              <a:cxnLst/>
              <a:rect r="r" b="b" t="t" l="l"/>
              <a:pathLst>
                <a:path h="171425" w="236018">
                  <a:moveTo>
                    <a:pt x="0" y="0"/>
                  </a:moveTo>
                  <a:lnTo>
                    <a:pt x="236018" y="0"/>
                  </a:lnTo>
                  <a:lnTo>
                    <a:pt x="236018" y="171425"/>
                  </a:lnTo>
                  <a:lnTo>
                    <a:pt x="0" y="17142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D9505D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36018" cy="209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4853031" y="2814201"/>
            <a:ext cx="1151495" cy="897320"/>
            <a:chOff x="0" y="0"/>
            <a:chExt cx="269576" cy="2100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69576" cy="210072"/>
            </a:xfrm>
            <a:custGeom>
              <a:avLst/>
              <a:gdLst/>
              <a:ahLst/>
              <a:cxnLst/>
              <a:rect r="r" b="b" t="t" l="l"/>
              <a:pathLst>
                <a:path h="210072" w="269576">
                  <a:moveTo>
                    <a:pt x="0" y="0"/>
                  </a:moveTo>
                  <a:lnTo>
                    <a:pt x="269576" y="0"/>
                  </a:lnTo>
                  <a:lnTo>
                    <a:pt x="269576" y="210072"/>
                  </a:lnTo>
                  <a:lnTo>
                    <a:pt x="0" y="21007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D9505D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269576" cy="2481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265482" y="1426315"/>
            <a:ext cx="311634" cy="428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D9505D"/>
                </a:solidFill>
                <a:latin typeface="Raleway Bold"/>
                <a:ea typeface="Raleway Bold"/>
                <a:cs typeface="Raleway Bold"/>
                <a:sym typeface="Raleway Bold"/>
              </a:rPr>
              <a:t>1.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541398" y="2657475"/>
            <a:ext cx="311634" cy="428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D9505D"/>
                </a:solidFill>
                <a:latin typeface="Raleway Bold"/>
                <a:ea typeface="Raleway Bold"/>
                <a:cs typeface="Raleway Bold"/>
                <a:sym typeface="Raleway Bold"/>
              </a:rPr>
              <a:t>2.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673519" y="4924398"/>
            <a:ext cx="278444" cy="428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D9505D"/>
                </a:solidFill>
                <a:latin typeface="Raleway Bold"/>
                <a:ea typeface="Raleway Bold"/>
                <a:cs typeface="Raleway Bold"/>
                <a:sym typeface="Raleway Bold"/>
              </a:rPr>
              <a:t>3.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768077" y="6825018"/>
            <a:ext cx="283044" cy="428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D9505D"/>
                </a:solidFill>
                <a:latin typeface="Raleway Bold"/>
                <a:ea typeface="Raleway Bold"/>
                <a:cs typeface="Raleway Bold"/>
                <a:sym typeface="Raleway Bold"/>
              </a:rPr>
              <a:t>4.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241464" y="2292169"/>
            <a:ext cx="2108697" cy="3060908"/>
            <a:chOff x="0" y="0"/>
            <a:chExt cx="493667" cy="71658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93667" cy="716589"/>
            </a:xfrm>
            <a:custGeom>
              <a:avLst/>
              <a:gdLst/>
              <a:ahLst/>
              <a:cxnLst/>
              <a:rect r="r" b="b" t="t" l="l"/>
              <a:pathLst>
                <a:path h="716589" w="493667">
                  <a:moveTo>
                    <a:pt x="0" y="0"/>
                  </a:moveTo>
                  <a:lnTo>
                    <a:pt x="493667" y="0"/>
                  </a:lnTo>
                  <a:lnTo>
                    <a:pt x="493667" y="716589"/>
                  </a:lnTo>
                  <a:lnTo>
                    <a:pt x="0" y="7165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D9505D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493667" cy="7546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15447989" y="-1447800"/>
            <a:ext cx="4913194" cy="4114800"/>
          </a:xfrm>
          <a:custGeom>
            <a:avLst/>
            <a:gdLst/>
            <a:ahLst/>
            <a:cxnLst/>
            <a:rect r="r" b="b" t="t" l="l"/>
            <a:pathLst>
              <a:path h="4114800" w="4913194">
                <a:moveTo>
                  <a:pt x="4913194" y="0"/>
                </a:moveTo>
                <a:lnTo>
                  <a:pt x="0" y="0"/>
                </a:lnTo>
                <a:lnTo>
                  <a:pt x="0" y="4114800"/>
                </a:lnTo>
                <a:lnTo>
                  <a:pt x="4913194" y="4114800"/>
                </a:lnTo>
                <a:lnTo>
                  <a:pt x="491319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64082" y="7922622"/>
            <a:ext cx="2094358" cy="4382265"/>
          </a:xfrm>
          <a:custGeom>
            <a:avLst/>
            <a:gdLst/>
            <a:ahLst/>
            <a:cxnLst/>
            <a:rect r="r" b="b" t="t" l="l"/>
            <a:pathLst>
              <a:path h="4382265" w="2094358">
                <a:moveTo>
                  <a:pt x="0" y="0"/>
                </a:moveTo>
                <a:lnTo>
                  <a:pt x="2094357" y="0"/>
                </a:lnTo>
                <a:lnTo>
                  <a:pt x="2094357" y="4382265"/>
                </a:lnTo>
                <a:lnTo>
                  <a:pt x="0" y="43822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Object 4" id="4"/>
          <p:cNvGraphicFramePr/>
          <p:nvPr/>
        </p:nvGraphicFramePr>
        <p:xfrm>
          <a:off x="1341177" y="2516172"/>
          <a:ext cx="16230600" cy="2249110"/>
        </p:xfrm>
        <a:graphic>
          <a:graphicData uri="http://schemas.openxmlformats.org/presentationml/2006/ole">
            <p:oleObj imgW="19469100" imgH="5486400" r:id="rId7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5" id="5"/>
          <p:cNvSpPr txBox="true"/>
          <p:nvPr/>
        </p:nvSpPr>
        <p:spPr>
          <a:xfrm rot="0">
            <a:off x="426617" y="49585"/>
            <a:ext cx="5402718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Evidencias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829336" y="659185"/>
            <a:ext cx="4112114" cy="4286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(Plan de pruebas)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79918" y="10021224"/>
            <a:ext cx="1001509" cy="500755"/>
          </a:xfrm>
          <a:custGeom>
            <a:avLst/>
            <a:gdLst/>
            <a:ahLst/>
            <a:cxnLst/>
            <a:rect r="r" b="b" t="t" l="l"/>
            <a:pathLst>
              <a:path h="500755" w="1001509">
                <a:moveTo>
                  <a:pt x="0" y="0"/>
                </a:moveTo>
                <a:lnTo>
                  <a:pt x="1001509" y="0"/>
                </a:lnTo>
                <a:lnTo>
                  <a:pt x="1001509" y="500755"/>
                </a:lnTo>
                <a:lnTo>
                  <a:pt x="0" y="5007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98036" y="-184027"/>
            <a:ext cx="1269104" cy="1269104"/>
          </a:xfrm>
          <a:custGeom>
            <a:avLst/>
            <a:gdLst/>
            <a:ahLst/>
            <a:cxnLst/>
            <a:rect r="r" b="b" t="t" l="l"/>
            <a:pathLst>
              <a:path h="1269104" w="1269104">
                <a:moveTo>
                  <a:pt x="0" y="0"/>
                </a:moveTo>
                <a:lnTo>
                  <a:pt x="1269104" y="0"/>
                </a:lnTo>
                <a:lnTo>
                  <a:pt x="1269104" y="1269104"/>
                </a:lnTo>
                <a:lnTo>
                  <a:pt x="0" y="12691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48816" y="-184027"/>
            <a:ext cx="745965" cy="607962"/>
          </a:xfrm>
          <a:custGeom>
            <a:avLst/>
            <a:gdLst/>
            <a:ahLst/>
            <a:cxnLst/>
            <a:rect r="r" b="b" t="t" l="l"/>
            <a:pathLst>
              <a:path h="607962" w="745965">
                <a:moveTo>
                  <a:pt x="0" y="0"/>
                </a:moveTo>
                <a:lnTo>
                  <a:pt x="745965" y="0"/>
                </a:lnTo>
                <a:lnTo>
                  <a:pt x="745965" y="607962"/>
                </a:lnTo>
                <a:lnTo>
                  <a:pt x="0" y="6079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915017" y="9914017"/>
            <a:ext cx="745965" cy="607962"/>
          </a:xfrm>
          <a:custGeom>
            <a:avLst/>
            <a:gdLst/>
            <a:ahLst/>
            <a:cxnLst/>
            <a:rect r="r" b="b" t="t" l="l"/>
            <a:pathLst>
              <a:path h="607962" w="745965">
                <a:moveTo>
                  <a:pt x="0" y="0"/>
                </a:moveTo>
                <a:lnTo>
                  <a:pt x="745966" y="0"/>
                </a:lnTo>
                <a:lnTo>
                  <a:pt x="745966" y="607962"/>
                </a:lnTo>
                <a:lnTo>
                  <a:pt x="0" y="6079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1306002" y="6677017"/>
            <a:ext cx="1950207" cy="1245695"/>
          </a:xfrm>
          <a:custGeom>
            <a:avLst/>
            <a:gdLst/>
            <a:ahLst/>
            <a:cxnLst/>
            <a:rect r="r" b="b" t="t" l="l"/>
            <a:pathLst>
              <a:path h="1245695" w="1950207">
                <a:moveTo>
                  <a:pt x="0" y="0"/>
                </a:moveTo>
                <a:lnTo>
                  <a:pt x="1950207" y="0"/>
                </a:lnTo>
                <a:lnTo>
                  <a:pt x="1950207" y="1245695"/>
                </a:lnTo>
                <a:lnTo>
                  <a:pt x="0" y="124569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5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17198036" y="78485"/>
            <a:ext cx="1397171" cy="263716"/>
          </a:xfrm>
          <a:custGeom>
            <a:avLst/>
            <a:gdLst/>
            <a:ahLst/>
            <a:cxnLst/>
            <a:rect r="r" b="b" t="t" l="l"/>
            <a:pathLst>
              <a:path h="263716" w="1397171">
                <a:moveTo>
                  <a:pt x="1397172" y="0"/>
                </a:moveTo>
                <a:lnTo>
                  <a:pt x="0" y="0"/>
                </a:lnTo>
                <a:lnTo>
                  <a:pt x="0" y="263716"/>
                </a:lnTo>
                <a:lnTo>
                  <a:pt x="1397172" y="263716"/>
                </a:lnTo>
                <a:lnTo>
                  <a:pt x="1397172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8070637" y="671049"/>
            <a:ext cx="590345" cy="357651"/>
          </a:xfrm>
          <a:custGeom>
            <a:avLst/>
            <a:gdLst/>
            <a:ahLst/>
            <a:cxnLst/>
            <a:rect r="r" b="b" t="t" l="l"/>
            <a:pathLst>
              <a:path h="357651" w="590345">
                <a:moveTo>
                  <a:pt x="0" y="0"/>
                </a:moveTo>
                <a:lnTo>
                  <a:pt x="590346" y="0"/>
                </a:lnTo>
                <a:lnTo>
                  <a:pt x="590346" y="357651"/>
                </a:lnTo>
                <a:lnTo>
                  <a:pt x="0" y="35765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true" rot="0">
            <a:off x="-2112946" y="7537049"/>
            <a:ext cx="3564095" cy="2984930"/>
          </a:xfrm>
          <a:custGeom>
            <a:avLst/>
            <a:gdLst/>
            <a:ahLst/>
            <a:cxnLst/>
            <a:rect r="r" b="b" t="t" l="l"/>
            <a:pathLst>
              <a:path h="2984930" w="3564095">
                <a:moveTo>
                  <a:pt x="0" y="2984930"/>
                </a:moveTo>
                <a:lnTo>
                  <a:pt x="3564095" y="2984930"/>
                </a:lnTo>
                <a:lnTo>
                  <a:pt x="3564095" y="0"/>
                </a:lnTo>
                <a:lnTo>
                  <a:pt x="0" y="0"/>
                </a:lnTo>
                <a:lnTo>
                  <a:pt x="0" y="298493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487707" y="1028700"/>
          <a:ext cx="17312585" cy="9134475"/>
        </p:xfrm>
        <a:graphic>
          <a:graphicData uri="http://schemas.openxmlformats.org/drawingml/2006/table">
            <a:tbl>
              <a:tblPr/>
              <a:tblGrid>
                <a:gridCol w="2451483"/>
                <a:gridCol w="5690846"/>
                <a:gridCol w="4950299"/>
                <a:gridCol w="4219957"/>
              </a:tblGrid>
              <a:tr h="102341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true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Tipo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true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Descripción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true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Ejemplo de Uso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true">
                          <a:solidFill>
                            <a:srgbClr val="000000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Referencia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ACFF"/>
                    </a:solidFill>
                  </a:tcPr>
                </a:tc>
              </a:tr>
              <a:tr h="133914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Rendimiento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La API debe responder en &lt;1s y reportes en &lt;5s.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D95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Uso de Postgres y Worker— HTMX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D5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ERS §10.2; Justificación Técnica ADR-01, ADR-03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</a:tr>
              <a:tr h="133914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Disponibilidad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Servicio estable (99% QA) y tolerante a fallos leves.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D5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Proxy, servicios independientes, Redis para caché y pub-sub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D95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ERS §10.1; Justificación Técnica ADR-06, ADR-09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</a:tr>
              <a:tr h="133914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Escalabilidad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Debe soportar crecimiento de usuarios/datos sin degradación notable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D95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API y Worker en contenedores Docker.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D95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ERS §10.3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</a:tr>
              <a:tr h="133914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Seguridad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Control de acceso, auditoría, manejo seguro de adjuntos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D95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RBAC + MinIO con políticas y HTTPS.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D95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ERS §10.5, Justificación Técnica ADR-04, ADR-07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</a:tr>
              <a:tr h="101252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Mantenibilidad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Código modular y entornos reproducibles.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D95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NestJS modular + Docker Compose.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D95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ERS §10.7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</a:tr>
              <a:tr h="174197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Usabilidad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UI responsiva; flujos lineales por rol; validación de formularios y mensajes claros.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D957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HTMX, WebSocket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D5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ERS §10.4, Justificación Técnica ADR 01, ADR-02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F"/>
                    </a:solidFill>
                  </a:tcPr>
                </a:tc>
              </a:tr>
            </a:tbl>
          </a:graphicData>
        </a:graphic>
      </p:graphicFrame>
      <p:sp>
        <p:nvSpPr>
          <p:cNvPr name="TextBox 12" id="12"/>
          <p:cNvSpPr txBox="true"/>
          <p:nvPr/>
        </p:nvSpPr>
        <p:spPr>
          <a:xfrm rot="0">
            <a:off x="2105217" y="179488"/>
            <a:ext cx="14077566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760"/>
              </a:lnSpc>
              <a:spcBef>
                <a:spcPct val="0"/>
              </a:spcBef>
            </a:pPr>
            <a:r>
              <a:rPr lang="en-US" b="true" sz="48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Requerimientos Arquitectónicos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79918" y="10021224"/>
            <a:ext cx="1001509" cy="500755"/>
          </a:xfrm>
          <a:custGeom>
            <a:avLst/>
            <a:gdLst/>
            <a:ahLst/>
            <a:cxnLst/>
            <a:rect r="r" b="b" t="t" l="l"/>
            <a:pathLst>
              <a:path h="500755" w="1001509">
                <a:moveTo>
                  <a:pt x="0" y="0"/>
                </a:moveTo>
                <a:lnTo>
                  <a:pt x="1001509" y="0"/>
                </a:lnTo>
                <a:lnTo>
                  <a:pt x="1001509" y="500755"/>
                </a:lnTo>
                <a:lnTo>
                  <a:pt x="0" y="5007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98036" y="-184027"/>
            <a:ext cx="1269104" cy="1269104"/>
          </a:xfrm>
          <a:custGeom>
            <a:avLst/>
            <a:gdLst/>
            <a:ahLst/>
            <a:cxnLst/>
            <a:rect r="r" b="b" t="t" l="l"/>
            <a:pathLst>
              <a:path h="1269104" w="1269104">
                <a:moveTo>
                  <a:pt x="0" y="0"/>
                </a:moveTo>
                <a:lnTo>
                  <a:pt x="1269104" y="0"/>
                </a:lnTo>
                <a:lnTo>
                  <a:pt x="1269104" y="1269104"/>
                </a:lnTo>
                <a:lnTo>
                  <a:pt x="0" y="12691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48816" y="-184027"/>
            <a:ext cx="745965" cy="607962"/>
          </a:xfrm>
          <a:custGeom>
            <a:avLst/>
            <a:gdLst/>
            <a:ahLst/>
            <a:cxnLst/>
            <a:rect r="r" b="b" t="t" l="l"/>
            <a:pathLst>
              <a:path h="607962" w="745965">
                <a:moveTo>
                  <a:pt x="0" y="0"/>
                </a:moveTo>
                <a:lnTo>
                  <a:pt x="745965" y="0"/>
                </a:lnTo>
                <a:lnTo>
                  <a:pt x="745965" y="607962"/>
                </a:lnTo>
                <a:lnTo>
                  <a:pt x="0" y="6079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915017" y="9914017"/>
            <a:ext cx="745965" cy="607962"/>
          </a:xfrm>
          <a:custGeom>
            <a:avLst/>
            <a:gdLst/>
            <a:ahLst/>
            <a:cxnLst/>
            <a:rect r="r" b="b" t="t" l="l"/>
            <a:pathLst>
              <a:path h="607962" w="745965">
                <a:moveTo>
                  <a:pt x="0" y="0"/>
                </a:moveTo>
                <a:lnTo>
                  <a:pt x="745966" y="0"/>
                </a:lnTo>
                <a:lnTo>
                  <a:pt x="745966" y="607962"/>
                </a:lnTo>
                <a:lnTo>
                  <a:pt x="0" y="6079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1306002" y="6677017"/>
            <a:ext cx="1950207" cy="1245695"/>
          </a:xfrm>
          <a:custGeom>
            <a:avLst/>
            <a:gdLst/>
            <a:ahLst/>
            <a:cxnLst/>
            <a:rect r="r" b="b" t="t" l="l"/>
            <a:pathLst>
              <a:path h="1245695" w="1950207">
                <a:moveTo>
                  <a:pt x="0" y="0"/>
                </a:moveTo>
                <a:lnTo>
                  <a:pt x="1950207" y="0"/>
                </a:lnTo>
                <a:lnTo>
                  <a:pt x="1950207" y="1245695"/>
                </a:lnTo>
                <a:lnTo>
                  <a:pt x="0" y="124569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50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17198036" y="78485"/>
            <a:ext cx="1397171" cy="263716"/>
          </a:xfrm>
          <a:custGeom>
            <a:avLst/>
            <a:gdLst/>
            <a:ahLst/>
            <a:cxnLst/>
            <a:rect r="r" b="b" t="t" l="l"/>
            <a:pathLst>
              <a:path h="263716" w="1397171">
                <a:moveTo>
                  <a:pt x="1397172" y="0"/>
                </a:moveTo>
                <a:lnTo>
                  <a:pt x="0" y="0"/>
                </a:lnTo>
                <a:lnTo>
                  <a:pt x="0" y="263716"/>
                </a:lnTo>
                <a:lnTo>
                  <a:pt x="1397172" y="263716"/>
                </a:lnTo>
                <a:lnTo>
                  <a:pt x="1397172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8070637" y="671049"/>
            <a:ext cx="590345" cy="357651"/>
          </a:xfrm>
          <a:custGeom>
            <a:avLst/>
            <a:gdLst/>
            <a:ahLst/>
            <a:cxnLst/>
            <a:rect r="r" b="b" t="t" l="l"/>
            <a:pathLst>
              <a:path h="357651" w="590345">
                <a:moveTo>
                  <a:pt x="0" y="0"/>
                </a:moveTo>
                <a:lnTo>
                  <a:pt x="590346" y="0"/>
                </a:lnTo>
                <a:lnTo>
                  <a:pt x="590346" y="357651"/>
                </a:lnTo>
                <a:lnTo>
                  <a:pt x="0" y="35765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true" rot="0">
            <a:off x="-2112946" y="7537049"/>
            <a:ext cx="3564095" cy="2984930"/>
          </a:xfrm>
          <a:custGeom>
            <a:avLst/>
            <a:gdLst/>
            <a:ahLst/>
            <a:cxnLst/>
            <a:rect r="r" b="b" t="t" l="l"/>
            <a:pathLst>
              <a:path h="2984930" w="3564095">
                <a:moveTo>
                  <a:pt x="0" y="2984930"/>
                </a:moveTo>
                <a:lnTo>
                  <a:pt x="3564095" y="2984930"/>
                </a:lnTo>
                <a:lnTo>
                  <a:pt x="3564095" y="0"/>
                </a:lnTo>
                <a:lnTo>
                  <a:pt x="0" y="0"/>
                </a:lnTo>
                <a:lnTo>
                  <a:pt x="0" y="298493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7888338" y="266700"/>
            <a:ext cx="2511324" cy="1450942"/>
            <a:chOff x="0" y="0"/>
            <a:chExt cx="1038216" cy="5998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38216" cy="599840"/>
            </a:xfrm>
            <a:custGeom>
              <a:avLst/>
              <a:gdLst/>
              <a:ahLst/>
              <a:cxnLst/>
              <a:rect r="r" b="b" t="t" l="l"/>
              <a:pathLst>
                <a:path h="599840" w="1038216">
                  <a:moveTo>
                    <a:pt x="61656" y="0"/>
                  </a:moveTo>
                  <a:lnTo>
                    <a:pt x="976560" y="0"/>
                  </a:lnTo>
                  <a:cubicBezTo>
                    <a:pt x="1010612" y="0"/>
                    <a:pt x="1038216" y="27604"/>
                    <a:pt x="1038216" y="61656"/>
                  </a:cubicBezTo>
                  <a:lnTo>
                    <a:pt x="1038216" y="538183"/>
                  </a:lnTo>
                  <a:cubicBezTo>
                    <a:pt x="1038216" y="554536"/>
                    <a:pt x="1031720" y="570218"/>
                    <a:pt x="1020158" y="581781"/>
                  </a:cubicBezTo>
                  <a:cubicBezTo>
                    <a:pt x="1008595" y="593344"/>
                    <a:pt x="992913" y="599840"/>
                    <a:pt x="976560" y="599840"/>
                  </a:cubicBezTo>
                  <a:lnTo>
                    <a:pt x="61656" y="599840"/>
                  </a:lnTo>
                  <a:cubicBezTo>
                    <a:pt x="45304" y="599840"/>
                    <a:pt x="29621" y="593344"/>
                    <a:pt x="18059" y="581781"/>
                  </a:cubicBezTo>
                  <a:cubicBezTo>
                    <a:pt x="6496" y="570218"/>
                    <a:pt x="0" y="554536"/>
                    <a:pt x="0" y="538183"/>
                  </a:cubicBezTo>
                  <a:lnTo>
                    <a:pt x="0" y="61656"/>
                  </a:lnTo>
                  <a:cubicBezTo>
                    <a:pt x="0" y="45304"/>
                    <a:pt x="6496" y="29621"/>
                    <a:pt x="18059" y="18059"/>
                  </a:cubicBezTo>
                  <a:cubicBezTo>
                    <a:pt x="29621" y="6496"/>
                    <a:pt x="45304" y="0"/>
                    <a:pt x="61656" y="0"/>
                  </a:cubicBezTo>
                  <a:close/>
                </a:path>
              </a:pathLst>
            </a:custGeom>
            <a:solidFill>
              <a:srgbClr val="FFFFFF"/>
            </a:solidFill>
            <a:ln w="142875" cap="sq">
              <a:solidFill>
                <a:srgbClr val="3BB8B2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038216" cy="637940"/>
            </a:xfrm>
            <a:prstGeom prst="rect">
              <a:avLst/>
            </a:prstGeom>
          </p:spPr>
          <p:txBody>
            <a:bodyPr anchor="ctr" rtlCol="false" tIns="56237" lIns="56237" bIns="56237" rIns="56237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8324293" y="695642"/>
            <a:ext cx="1639414" cy="589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 spc="16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NGINX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894887" y="2469147"/>
            <a:ext cx="12498225" cy="7748851"/>
            <a:chOff x="0" y="0"/>
            <a:chExt cx="5166941" cy="320348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166941" cy="3203483"/>
            </a:xfrm>
            <a:custGeom>
              <a:avLst/>
              <a:gdLst/>
              <a:ahLst/>
              <a:cxnLst/>
              <a:rect r="r" b="b" t="t" l="l"/>
              <a:pathLst>
                <a:path h="3203483" w="5166941">
                  <a:moveTo>
                    <a:pt x="12389" y="0"/>
                  </a:moveTo>
                  <a:lnTo>
                    <a:pt x="5154552" y="0"/>
                  </a:lnTo>
                  <a:cubicBezTo>
                    <a:pt x="5161394" y="0"/>
                    <a:pt x="5166941" y="5547"/>
                    <a:pt x="5166941" y="12389"/>
                  </a:cubicBezTo>
                  <a:lnTo>
                    <a:pt x="5166941" y="3191094"/>
                  </a:lnTo>
                  <a:cubicBezTo>
                    <a:pt x="5166941" y="3197936"/>
                    <a:pt x="5161394" y="3203483"/>
                    <a:pt x="5154552" y="3203483"/>
                  </a:cubicBezTo>
                  <a:lnTo>
                    <a:pt x="12389" y="3203483"/>
                  </a:lnTo>
                  <a:cubicBezTo>
                    <a:pt x="5547" y="3203483"/>
                    <a:pt x="0" y="3197936"/>
                    <a:pt x="0" y="3191094"/>
                  </a:cubicBezTo>
                  <a:lnTo>
                    <a:pt x="0" y="12389"/>
                  </a:lnTo>
                  <a:cubicBezTo>
                    <a:pt x="0" y="5547"/>
                    <a:pt x="5547" y="0"/>
                    <a:pt x="12389" y="0"/>
                  </a:cubicBezTo>
                  <a:close/>
                </a:path>
              </a:pathLst>
            </a:custGeom>
            <a:solidFill>
              <a:srgbClr val="FFFFFF"/>
            </a:solidFill>
            <a:ln w="142875" cap="sq">
              <a:solidFill>
                <a:srgbClr val="818181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5166941" cy="3241583"/>
            </a:xfrm>
            <a:prstGeom prst="rect">
              <a:avLst/>
            </a:prstGeom>
          </p:spPr>
          <p:txBody>
            <a:bodyPr anchor="ctr" rtlCol="false" tIns="56237" lIns="56237" bIns="56237" rIns="56237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4085559" y="3936134"/>
            <a:ext cx="2511324" cy="1606807"/>
            <a:chOff x="0" y="0"/>
            <a:chExt cx="1038216" cy="6642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38216" cy="664276"/>
            </a:xfrm>
            <a:custGeom>
              <a:avLst/>
              <a:gdLst/>
              <a:ahLst/>
              <a:cxnLst/>
              <a:rect r="r" b="b" t="t" l="l"/>
              <a:pathLst>
                <a:path h="664276" w="1038216">
                  <a:moveTo>
                    <a:pt x="61656" y="0"/>
                  </a:moveTo>
                  <a:lnTo>
                    <a:pt x="976560" y="0"/>
                  </a:lnTo>
                  <a:cubicBezTo>
                    <a:pt x="1010612" y="0"/>
                    <a:pt x="1038216" y="27604"/>
                    <a:pt x="1038216" y="61656"/>
                  </a:cubicBezTo>
                  <a:lnTo>
                    <a:pt x="1038216" y="602620"/>
                  </a:lnTo>
                  <a:cubicBezTo>
                    <a:pt x="1038216" y="618972"/>
                    <a:pt x="1031720" y="634655"/>
                    <a:pt x="1020158" y="646218"/>
                  </a:cubicBezTo>
                  <a:cubicBezTo>
                    <a:pt x="1008595" y="657780"/>
                    <a:pt x="992913" y="664276"/>
                    <a:pt x="976560" y="664276"/>
                  </a:cubicBezTo>
                  <a:lnTo>
                    <a:pt x="61656" y="664276"/>
                  </a:lnTo>
                  <a:cubicBezTo>
                    <a:pt x="45304" y="664276"/>
                    <a:pt x="29621" y="657780"/>
                    <a:pt x="18059" y="646218"/>
                  </a:cubicBezTo>
                  <a:cubicBezTo>
                    <a:pt x="6496" y="634655"/>
                    <a:pt x="0" y="618972"/>
                    <a:pt x="0" y="602620"/>
                  </a:cubicBezTo>
                  <a:lnTo>
                    <a:pt x="0" y="61656"/>
                  </a:lnTo>
                  <a:cubicBezTo>
                    <a:pt x="0" y="45304"/>
                    <a:pt x="6496" y="29621"/>
                    <a:pt x="18059" y="18059"/>
                  </a:cubicBezTo>
                  <a:cubicBezTo>
                    <a:pt x="29621" y="6496"/>
                    <a:pt x="45304" y="0"/>
                    <a:pt x="61656" y="0"/>
                  </a:cubicBezTo>
                  <a:close/>
                </a:path>
              </a:pathLst>
            </a:custGeom>
            <a:solidFill>
              <a:srgbClr val="FFFFFF"/>
            </a:solidFill>
            <a:ln w="142875" cap="sq">
              <a:solidFill>
                <a:srgbClr val="35A7C0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38216" cy="702376"/>
            </a:xfrm>
            <a:prstGeom prst="rect">
              <a:avLst/>
            </a:prstGeom>
          </p:spPr>
          <p:txBody>
            <a:bodyPr anchor="ctr" rtlCol="false" tIns="56237" lIns="56237" bIns="56237" rIns="56237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4521514" y="4100599"/>
            <a:ext cx="1639414" cy="1118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 spc="16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API</a:t>
            </a:r>
          </a:p>
          <a:p>
            <a:pPr algn="ctr">
              <a:lnSpc>
                <a:spcPts val="4199"/>
              </a:lnSpc>
            </a:pPr>
            <a:r>
              <a:rPr lang="en-US" sz="2999" spc="14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(NestJS)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598874" y="3936134"/>
            <a:ext cx="3090252" cy="1606807"/>
            <a:chOff x="0" y="0"/>
            <a:chExt cx="1277553" cy="66427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277553" cy="664276"/>
            </a:xfrm>
            <a:custGeom>
              <a:avLst/>
              <a:gdLst/>
              <a:ahLst/>
              <a:cxnLst/>
              <a:rect r="r" b="b" t="t" l="l"/>
              <a:pathLst>
                <a:path h="664276" w="1277553">
                  <a:moveTo>
                    <a:pt x="50105" y="0"/>
                  </a:moveTo>
                  <a:lnTo>
                    <a:pt x="1227448" y="0"/>
                  </a:lnTo>
                  <a:cubicBezTo>
                    <a:pt x="1240737" y="0"/>
                    <a:pt x="1253481" y="5279"/>
                    <a:pt x="1262878" y="14676"/>
                  </a:cubicBezTo>
                  <a:cubicBezTo>
                    <a:pt x="1272274" y="24072"/>
                    <a:pt x="1277553" y="36817"/>
                    <a:pt x="1277553" y="50105"/>
                  </a:cubicBezTo>
                  <a:lnTo>
                    <a:pt x="1277553" y="614171"/>
                  </a:lnTo>
                  <a:cubicBezTo>
                    <a:pt x="1277553" y="627460"/>
                    <a:pt x="1272274" y="640204"/>
                    <a:pt x="1262878" y="649601"/>
                  </a:cubicBezTo>
                  <a:cubicBezTo>
                    <a:pt x="1253481" y="658997"/>
                    <a:pt x="1240737" y="664276"/>
                    <a:pt x="1227448" y="664276"/>
                  </a:cubicBezTo>
                  <a:lnTo>
                    <a:pt x="50105" y="664276"/>
                  </a:lnTo>
                  <a:cubicBezTo>
                    <a:pt x="36817" y="664276"/>
                    <a:pt x="24072" y="658997"/>
                    <a:pt x="14676" y="649601"/>
                  </a:cubicBezTo>
                  <a:cubicBezTo>
                    <a:pt x="5279" y="640204"/>
                    <a:pt x="0" y="627460"/>
                    <a:pt x="0" y="614171"/>
                  </a:cubicBezTo>
                  <a:lnTo>
                    <a:pt x="0" y="50105"/>
                  </a:lnTo>
                  <a:cubicBezTo>
                    <a:pt x="0" y="36817"/>
                    <a:pt x="5279" y="24072"/>
                    <a:pt x="14676" y="14676"/>
                  </a:cubicBezTo>
                  <a:cubicBezTo>
                    <a:pt x="24072" y="5279"/>
                    <a:pt x="36817" y="0"/>
                    <a:pt x="50105" y="0"/>
                  </a:cubicBezTo>
                  <a:close/>
                </a:path>
              </a:pathLst>
            </a:custGeom>
            <a:solidFill>
              <a:srgbClr val="FFFFFF"/>
            </a:solidFill>
            <a:ln w="142875" cap="sq">
              <a:solidFill>
                <a:srgbClr val="35A7C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277553" cy="702376"/>
            </a:xfrm>
            <a:prstGeom prst="rect">
              <a:avLst/>
            </a:prstGeom>
          </p:spPr>
          <p:txBody>
            <a:bodyPr anchor="ctr" rtlCol="false" tIns="56237" lIns="56237" bIns="56237" rIns="56237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7956896" y="4142002"/>
            <a:ext cx="2374207" cy="1118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 spc="16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Postgres</a:t>
            </a:r>
          </a:p>
          <a:p>
            <a:pPr algn="ctr">
              <a:lnSpc>
                <a:spcPts val="4199"/>
              </a:lnSpc>
            </a:pPr>
            <a:r>
              <a:rPr lang="en-US" sz="2999" spc="14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(OLTP ACID)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1689251" y="3936134"/>
            <a:ext cx="3090252" cy="1606807"/>
            <a:chOff x="0" y="0"/>
            <a:chExt cx="1277553" cy="66427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77553" cy="664276"/>
            </a:xfrm>
            <a:custGeom>
              <a:avLst/>
              <a:gdLst/>
              <a:ahLst/>
              <a:cxnLst/>
              <a:rect r="r" b="b" t="t" l="l"/>
              <a:pathLst>
                <a:path h="664276" w="1277553">
                  <a:moveTo>
                    <a:pt x="50105" y="0"/>
                  </a:moveTo>
                  <a:lnTo>
                    <a:pt x="1227448" y="0"/>
                  </a:lnTo>
                  <a:cubicBezTo>
                    <a:pt x="1240737" y="0"/>
                    <a:pt x="1253481" y="5279"/>
                    <a:pt x="1262878" y="14676"/>
                  </a:cubicBezTo>
                  <a:cubicBezTo>
                    <a:pt x="1272274" y="24072"/>
                    <a:pt x="1277553" y="36817"/>
                    <a:pt x="1277553" y="50105"/>
                  </a:cubicBezTo>
                  <a:lnTo>
                    <a:pt x="1277553" y="614171"/>
                  </a:lnTo>
                  <a:cubicBezTo>
                    <a:pt x="1277553" y="627460"/>
                    <a:pt x="1272274" y="640204"/>
                    <a:pt x="1262878" y="649601"/>
                  </a:cubicBezTo>
                  <a:cubicBezTo>
                    <a:pt x="1253481" y="658997"/>
                    <a:pt x="1240737" y="664276"/>
                    <a:pt x="1227448" y="664276"/>
                  </a:cubicBezTo>
                  <a:lnTo>
                    <a:pt x="50105" y="664276"/>
                  </a:lnTo>
                  <a:cubicBezTo>
                    <a:pt x="36817" y="664276"/>
                    <a:pt x="24072" y="658997"/>
                    <a:pt x="14676" y="649601"/>
                  </a:cubicBezTo>
                  <a:cubicBezTo>
                    <a:pt x="5279" y="640204"/>
                    <a:pt x="0" y="627460"/>
                    <a:pt x="0" y="614171"/>
                  </a:cubicBezTo>
                  <a:lnTo>
                    <a:pt x="0" y="50105"/>
                  </a:lnTo>
                  <a:cubicBezTo>
                    <a:pt x="0" y="36817"/>
                    <a:pt x="5279" y="24072"/>
                    <a:pt x="14676" y="14676"/>
                  </a:cubicBezTo>
                  <a:cubicBezTo>
                    <a:pt x="24072" y="5279"/>
                    <a:pt x="36817" y="0"/>
                    <a:pt x="50105" y="0"/>
                  </a:cubicBezTo>
                  <a:close/>
                </a:path>
              </a:pathLst>
            </a:custGeom>
            <a:solidFill>
              <a:srgbClr val="FFFFFF"/>
            </a:solidFill>
            <a:ln w="142875" cap="sq">
              <a:solidFill>
                <a:srgbClr val="35A7C0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277553" cy="702376"/>
            </a:xfrm>
            <a:prstGeom prst="rect">
              <a:avLst/>
            </a:prstGeom>
          </p:spPr>
          <p:txBody>
            <a:bodyPr anchor="ctr" rtlCol="false" tIns="56237" lIns="56237" bIns="56237" rIns="56237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935941" y="4142002"/>
            <a:ext cx="2596872" cy="1118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 spc="16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Redis</a:t>
            </a:r>
          </a:p>
          <a:p>
            <a:pPr algn="ctr">
              <a:lnSpc>
                <a:spcPts val="4199"/>
              </a:lnSpc>
            </a:pPr>
            <a:r>
              <a:rPr lang="en-US" sz="2999" spc="14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(Cache/Colas)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867831" y="8148511"/>
            <a:ext cx="2552339" cy="1118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 spc="16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MinIO</a:t>
            </a:r>
          </a:p>
          <a:p>
            <a:pPr algn="ctr">
              <a:lnSpc>
                <a:spcPts val="4199"/>
              </a:lnSpc>
            </a:pPr>
            <a:r>
              <a:rPr lang="en-US" sz="2999" spc="14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(S3 adjuntos)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1978715" y="7922712"/>
            <a:ext cx="2511324" cy="1648210"/>
            <a:chOff x="0" y="0"/>
            <a:chExt cx="1038216" cy="68139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38216" cy="681393"/>
            </a:xfrm>
            <a:custGeom>
              <a:avLst/>
              <a:gdLst/>
              <a:ahLst/>
              <a:cxnLst/>
              <a:rect r="r" b="b" t="t" l="l"/>
              <a:pathLst>
                <a:path h="681393" w="1038216">
                  <a:moveTo>
                    <a:pt x="61656" y="0"/>
                  </a:moveTo>
                  <a:lnTo>
                    <a:pt x="976560" y="0"/>
                  </a:lnTo>
                  <a:cubicBezTo>
                    <a:pt x="1010612" y="0"/>
                    <a:pt x="1038216" y="27604"/>
                    <a:pt x="1038216" y="61656"/>
                  </a:cubicBezTo>
                  <a:lnTo>
                    <a:pt x="1038216" y="619737"/>
                  </a:lnTo>
                  <a:cubicBezTo>
                    <a:pt x="1038216" y="636089"/>
                    <a:pt x="1031720" y="651772"/>
                    <a:pt x="1020158" y="663335"/>
                  </a:cubicBezTo>
                  <a:cubicBezTo>
                    <a:pt x="1008595" y="674897"/>
                    <a:pt x="992913" y="681393"/>
                    <a:pt x="976560" y="681393"/>
                  </a:cubicBezTo>
                  <a:lnTo>
                    <a:pt x="61656" y="681393"/>
                  </a:lnTo>
                  <a:cubicBezTo>
                    <a:pt x="45304" y="681393"/>
                    <a:pt x="29621" y="674897"/>
                    <a:pt x="18059" y="663335"/>
                  </a:cubicBezTo>
                  <a:cubicBezTo>
                    <a:pt x="6496" y="651772"/>
                    <a:pt x="0" y="636089"/>
                    <a:pt x="0" y="619737"/>
                  </a:cubicBezTo>
                  <a:lnTo>
                    <a:pt x="0" y="61656"/>
                  </a:lnTo>
                  <a:cubicBezTo>
                    <a:pt x="0" y="45304"/>
                    <a:pt x="6496" y="29621"/>
                    <a:pt x="18059" y="18059"/>
                  </a:cubicBezTo>
                  <a:cubicBezTo>
                    <a:pt x="29621" y="6496"/>
                    <a:pt x="45304" y="0"/>
                    <a:pt x="61656" y="0"/>
                  </a:cubicBezTo>
                  <a:close/>
                </a:path>
              </a:pathLst>
            </a:custGeom>
            <a:solidFill>
              <a:srgbClr val="FFFFFF"/>
            </a:solidFill>
            <a:ln w="142875" cap="sq">
              <a:solidFill>
                <a:srgbClr val="4A80BE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038216" cy="719493"/>
            </a:xfrm>
            <a:prstGeom prst="rect">
              <a:avLst/>
            </a:prstGeom>
          </p:spPr>
          <p:txBody>
            <a:bodyPr anchor="ctr" rtlCol="false" tIns="56237" lIns="56237" bIns="56237" rIns="56237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12289197" y="6267373"/>
            <a:ext cx="1890360" cy="1118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 spc="16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Worker</a:t>
            </a:r>
          </a:p>
          <a:p>
            <a:pPr algn="ctr">
              <a:lnSpc>
                <a:spcPts val="4199"/>
              </a:lnSpc>
            </a:pPr>
            <a:r>
              <a:rPr lang="en-US" sz="2999" spc="14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(BullMQ)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935941" y="8139429"/>
            <a:ext cx="2596872" cy="1118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 spc="16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IA</a:t>
            </a:r>
          </a:p>
          <a:p>
            <a:pPr algn="ctr">
              <a:lnSpc>
                <a:spcPts val="4199"/>
              </a:lnSpc>
            </a:pPr>
            <a:r>
              <a:rPr lang="en-US" sz="2999" spc="14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(FastAPI)</a:t>
            </a:r>
          </a:p>
        </p:txBody>
      </p:sp>
      <p:sp>
        <p:nvSpPr>
          <p:cNvPr name="AutoShape 36" id="36"/>
          <p:cNvSpPr/>
          <p:nvPr/>
        </p:nvSpPr>
        <p:spPr>
          <a:xfrm>
            <a:off x="5341221" y="5542941"/>
            <a:ext cx="2526609" cy="320310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7" id="37"/>
          <p:cNvSpPr/>
          <p:nvPr/>
        </p:nvSpPr>
        <p:spPr>
          <a:xfrm>
            <a:off x="9144000" y="1717642"/>
            <a:ext cx="0" cy="751506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8" id="38"/>
          <p:cNvSpPr txBox="true"/>
          <p:nvPr/>
        </p:nvSpPr>
        <p:spPr>
          <a:xfrm rot="0">
            <a:off x="6856027" y="2726322"/>
            <a:ext cx="5313380" cy="589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b="true" sz="3399" i="true" spc="16">
                <a:solidFill>
                  <a:srgbClr val="000000"/>
                </a:solidFill>
                <a:latin typeface="Inter Bold Italics"/>
                <a:ea typeface="Inter Bold Italics"/>
                <a:cs typeface="Inter Bold Italics"/>
                <a:sym typeface="Inter Bold Italics"/>
              </a:rPr>
              <a:t>Red Interna </a:t>
            </a:r>
            <a:r>
              <a:rPr lang="en-US" sz="3399" i="true" spc="16">
                <a:solidFill>
                  <a:srgbClr val="000000"/>
                </a:solidFill>
                <a:latin typeface="Inter Italics"/>
                <a:ea typeface="Inter Italics"/>
                <a:cs typeface="Inter Italics"/>
                <a:sym typeface="Inter Italics"/>
              </a:rPr>
              <a:t>(Docker)</a:t>
            </a:r>
          </a:p>
        </p:txBody>
      </p:sp>
      <p:sp>
        <p:nvSpPr>
          <p:cNvPr name="AutoShape 39" id="39"/>
          <p:cNvSpPr/>
          <p:nvPr/>
        </p:nvSpPr>
        <p:spPr>
          <a:xfrm>
            <a:off x="9144000" y="5542941"/>
            <a:ext cx="3145197" cy="132196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0" id="40"/>
          <p:cNvSpPr/>
          <p:nvPr/>
        </p:nvSpPr>
        <p:spPr>
          <a:xfrm>
            <a:off x="13234377" y="5542941"/>
            <a:ext cx="0" cy="80063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1" id="41"/>
          <p:cNvSpPr/>
          <p:nvPr/>
        </p:nvSpPr>
        <p:spPr>
          <a:xfrm flipH="true">
            <a:off x="13234377" y="7386244"/>
            <a:ext cx="0" cy="536468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2" id="42"/>
          <p:cNvSpPr/>
          <p:nvPr/>
        </p:nvSpPr>
        <p:spPr>
          <a:xfrm>
            <a:off x="10331104" y="8664614"/>
            <a:ext cx="1717378" cy="13475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43" id="43"/>
          <p:cNvSpPr txBox="true"/>
          <p:nvPr/>
        </p:nvSpPr>
        <p:spPr>
          <a:xfrm rot="0">
            <a:off x="10507752" y="698166"/>
            <a:ext cx="1586195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1599" spc="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Proxy Inverso y routing interno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3316860" y="5626340"/>
            <a:ext cx="1910061" cy="826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9"/>
              </a:lnSpc>
            </a:pPr>
            <a:r>
              <a:rPr lang="en-US" sz="1599" spc="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Lógica de negocio, validaciones y endpoints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1316717" y="5626340"/>
            <a:ext cx="1705381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9"/>
              </a:lnSpc>
            </a:pPr>
            <a:r>
              <a:rPr lang="en-US" sz="1599" spc="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Cache, colas y pub/sub realtime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119639" y="5626340"/>
            <a:ext cx="1910061" cy="826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9"/>
              </a:lnSpc>
            </a:pPr>
            <a:r>
              <a:rPr lang="en-US" sz="1599" spc="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Persistencia transaccional (OLTP)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8188969" y="9362632"/>
            <a:ext cx="1910061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1599" spc="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Almacenamiento S3-compatible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0068654" y="6987139"/>
            <a:ext cx="1910061" cy="54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1599" spc="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Procesamiento asíncrono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1984299" y="9618537"/>
            <a:ext cx="2500156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1599" spc="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Microservicio extensible</a:t>
            </a:r>
          </a:p>
        </p:txBody>
      </p:sp>
      <p:sp>
        <p:nvSpPr>
          <p:cNvPr name="Freeform 50" id="50"/>
          <p:cNvSpPr/>
          <p:nvPr/>
        </p:nvSpPr>
        <p:spPr>
          <a:xfrm flipH="false" flipV="false" rot="0">
            <a:off x="1542772" y="475738"/>
            <a:ext cx="884740" cy="1105925"/>
          </a:xfrm>
          <a:custGeom>
            <a:avLst/>
            <a:gdLst/>
            <a:ahLst/>
            <a:cxnLst/>
            <a:rect r="r" b="b" t="t" l="l"/>
            <a:pathLst>
              <a:path h="1105925" w="884740">
                <a:moveTo>
                  <a:pt x="0" y="0"/>
                </a:moveTo>
                <a:lnTo>
                  <a:pt x="884739" y="0"/>
                </a:lnTo>
                <a:lnTo>
                  <a:pt x="884739" y="1105924"/>
                </a:lnTo>
                <a:lnTo>
                  <a:pt x="0" y="1105924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1" id="51"/>
          <p:cNvSpPr txBox="true"/>
          <p:nvPr/>
        </p:nvSpPr>
        <p:spPr>
          <a:xfrm rot="0">
            <a:off x="2644846" y="792480"/>
            <a:ext cx="3516083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 spc="12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docker-compose.yml</a:t>
            </a:r>
          </a:p>
        </p:txBody>
      </p:sp>
      <p:sp>
        <p:nvSpPr>
          <p:cNvPr name="AutoShape 52" id="52"/>
          <p:cNvSpPr/>
          <p:nvPr/>
        </p:nvSpPr>
        <p:spPr>
          <a:xfrm>
            <a:off x="6596883" y="4739538"/>
            <a:ext cx="1001991" cy="0"/>
          </a:xfrm>
          <a:prstGeom prst="line">
            <a:avLst/>
          </a:prstGeom>
          <a:ln cap="flat" w="38100">
            <a:solidFill>
              <a:srgbClr val="000000"/>
            </a:solidFill>
            <a:prstDash val="sysDot"/>
            <a:headEnd type="none" len="sm" w="sm"/>
            <a:tailEnd type="arrow" len="sm" w="med"/>
          </a:ln>
        </p:spPr>
      </p:sp>
      <p:sp>
        <p:nvSpPr>
          <p:cNvPr name="AutoShape 53" id="53"/>
          <p:cNvSpPr/>
          <p:nvPr/>
        </p:nvSpPr>
        <p:spPr>
          <a:xfrm flipV="true">
            <a:off x="5288711" y="3905071"/>
            <a:ext cx="8037983" cy="110213"/>
          </a:xfrm>
          <a:prstGeom prst="line">
            <a:avLst/>
          </a:prstGeom>
          <a:ln cap="flat" w="38100">
            <a:solidFill>
              <a:srgbClr val="000000"/>
            </a:solidFill>
            <a:prstDash val="sysDot"/>
            <a:headEnd type="none" len="sm" w="sm"/>
            <a:tailEnd type="arrow" len="sm" w="med"/>
          </a:ln>
        </p:spPr>
      </p:sp>
      <p:grpSp>
        <p:nvGrpSpPr>
          <p:cNvPr name="Group 54" id="54"/>
          <p:cNvGrpSpPr/>
          <p:nvPr/>
        </p:nvGrpSpPr>
        <p:grpSpPr>
          <a:xfrm rot="0">
            <a:off x="7823677" y="7660874"/>
            <a:ext cx="7084970" cy="2266101"/>
            <a:chOff x="0" y="0"/>
            <a:chExt cx="1658662" cy="530517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658662" cy="530517"/>
            </a:xfrm>
            <a:custGeom>
              <a:avLst/>
              <a:gdLst/>
              <a:ahLst/>
              <a:cxnLst/>
              <a:rect r="r" b="b" t="t" l="l"/>
              <a:pathLst>
                <a:path h="530517" w="1658662">
                  <a:moveTo>
                    <a:pt x="0" y="0"/>
                  </a:moveTo>
                  <a:lnTo>
                    <a:pt x="1658662" y="0"/>
                  </a:lnTo>
                  <a:lnTo>
                    <a:pt x="1658662" y="530517"/>
                  </a:lnTo>
                  <a:lnTo>
                    <a:pt x="0" y="53051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D9505D"/>
              </a:solidFill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658662" cy="568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</a:pP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7488390" y="7651349"/>
            <a:ext cx="58628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>
                <a:solidFill>
                  <a:srgbClr val="D9505D"/>
                </a:solidFill>
                <a:latin typeface="Raleway Bold"/>
                <a:ea typeface="Raleway Bold"/>
                <a:cs typeface="Raleway Bold"/>
                <a:sym typeface="Raleway Bold"/>
              </a:rPr>
              <a:t>5.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4746112" y="87527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1" y="0"/>
                </a:lnTo>
                <a:lnTo>
                  <a:pt x="4527361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3" y="139255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92"/>
            <a:ext cx="2280767" cy="5218151"/>
          </a:xfrm>
          <a:custGeom>
            <a:avLst/>
            <a:gdLst/>
            <a:ahLst/>
            <a:cxnLst/>
            <a:rect r="r" b="b" t="t" l="l"/>
            <a:pathLst>
              <a:path h="5218151" w="2280767">
                <a:moveTo>
                  <a:pt x="0" y="0"/>
                </a:moveTo>
                <a:lnTo>
                  <a:pt x="2280767" y="0"/>
                </a:lnTo>
                <a:lnTo>
                  <a:pt x="2280767" y="5218151"/>
                </a:lnTo>
                <a:lnTo>
                  <a:pt x="0" y="5218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196152" y="7494835"/>
            <a:ext cx="3564095" cy="2984930"/>
          </a:xfrm>
          <a:custGeom>
            <a:avLst/>
            <a:gdLst/>
            <a:ahLst/>
            <a:cxnLst/>
            <a:rect r="r" b="b" t="t" l="l"/>
            <a:pathLst>
              <a:path h="2984930" w="3564095">
                <a:moveTo>
                  <a:pt x="0" y="2984929"/>
                </a:moveTo>
                <a:lnTo>
                  <a:pt x="3564095" y="2984929"/>
                </a:lnTo>
                <a:lnTo>
                  <a:pt x="3564095" y="0"/>
                </a:lnTo>
                <a:lnTo>
                  <a:pt x="0" y="0"/>
                </a:lnTo>
                <a:lnTo>
                  <a:pt x="0" y="298492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105217" y="169963"/>
            <a:ext cx="14077566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Desarrollo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5952094" y="1398688"/>
            <a:ext cx="6383812" cy="8720219"/>
          </a:xfrm>
          <a:custGeom>
            <a:avLst/>
            <a:gdLst/>
            <a:ahLst/>
            <a:cxnLst/>
            <a:rect r="r" b="b" t="t" l="l"/>
            <a:pathLst>
              <a:path h="8720219" w="6383812">
                <a:moveTo>
                  <a:pt x="0" y="0"/>
                </a:moveTo>
                <a:lnTo>
                  <a:pt x="6383812" y="0"/>
                </a:lnTo>
                <a:lnTo>
                  <a:pt x="6383812" y="8720218"/>
                </a:lnTo>
                <a:lnTo>
                  <a:pt x="0" y="87202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2962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4746112" y="87527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1" y="0"/>
                </a:lnTo>
                <a:lnTo>
                  <a:pt x="4527361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3" y="139255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92"/>
            <a:ext cx="2280767" cy="5218151"/>
          </a:xfrm>
          <a:custGeom>
            <a:avLst/>
            <a:gdLst/>
            <a:ahLst/>
            <a:cxnLst/>
            <a:rect r="r" b="b" t="t" l="l"/>
            <a:pathLst>
              <a:path h="5218151" w="2280767">
                <a:moveTo>
                  <a:pt x="0" y="0"/>
                </a:moveTo>
                <a:lnTo>
                  <a:pt x="2280767" y="0"/>
                </a:lnTo>
                <a:lnTo>
                  <a:pt x="2280767" y="5218151"/>
                </a:lnTo>
                <a:lnTo>
                  <a:pt x="0" y="5218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196152" y="7494835"/>
            <a:ext cx="3564095" cy="2984930"/>
          </a:xfrm>
          <a:custGeom>
            <a:avLst/>
            <a:gdLst/>
            <a:ahLst/>
            <a:cxnLst/>
            <a:rect r="r" b="b" t="t" l="l"/>
            <a:pathLst>
              <a:path h="2984930" w="3564095">
                <a:moveTo>
                  <a:pt x="0" y="2984929"/>
                </a:moveTo>
                <a:lnTo>
                  <a:pt x="3564095" y="2984929"/>
                </a:lnTo>
                <a:lnTo>
                  <a:pt x="3564095" y="0"/>
                </a:lnTo>
                <a:lnTo>
                  <a:pt x="0" y="0"/>
                </a:lnTo>
                <a:lnTo>
                  <a:pt x="0" y="298492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844499" y="1398688"/>
            <a:ext cx="6227616" cy="7859612"/>
          </a:xfrm>
          <a:custGeom>
            <a:avLst/>
            <a:gdLst/>
            <a:ahLst/>
            <a:cxnLst/>
            <a:rect r="r" b="b" t="t" l="l"/>
            <a:pathLst>
              <a:path h="7859612" w="6227616">
                <a:moveTo>
                  <a:pt x="0" y="0"/>
                </a:moveTo>
                <a:lnTo>
                  <a:pt x="6227616" y="0"/>
                </a:lnTo>
                <a:lnTo>
                  <a:pt x="6227616" y="7859612"/>
                </a:lnTo>
                <a:lnTo>
                  <a:pt x="0" y="785961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55253" t="-13858" r="-48860" b="-14111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072115" y="1398688"/>
            <a:ext cx="6371385" cy="7859612"/>
          </a:xfrm>
          <a:custGeom>
            <a:avLst/>
            <a:gdLst/>
            <a:ahLst/>
            <a:cxnLst/>
            <a:rect r="r" b="b" t="t" l="l"/>
            <a:pathLst>
              <a:path h="7859612" w="6371385">
                <a:moveTo>
                  <a:pt x="0" y="0"/>
                </a:moveTo>
                <a:lnTo>
                  <a:pt x="6371386" y="0"/>
                </a:lnTo>
                <a:lnTo>
                  <a:pt x="6371386" y="7859612"/>
                </a:lnTo>
                <a:lnTo>
                  <a:pt x="0" y="785961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7654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105217" y="169963"/>
            <a:ext cx="14077566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Desarrollo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4746112" y="87527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1" y="0"/>
                </a:lnTo>
                <a:lnTo>
                  <a:pt x="4527361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3" y="139255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92"/>
            <a:ext cx="2280767" cy="5218151"/>
          </a:xfrm>
          <a:custGeom>
            <a:avLst/>
            <a:gdLst/>
            <a:ahLst/>
            <a:cxnLst/>
            <a:rect r="r" b="b" t="t" l="l"/>
            <a:pathLst>
              <a:path h="5218151" w="2280767">
                <a:moveTo>
                  <a:pt x="0" y="0"/>
                </a:moveTo>
                <a:lnTo>
                  <a:pt x="2280767" y="0"/>
                </a:lnTo>
                <a:lnTo>
                  <a:pt x="2280767" y="5218151"/>
                </a:lnTo>
                <a:lnTo>
                  <a:pt x="0" y="5218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196152" y="7494835"/>
            <a:ext cx="3564095" cy="2984930"/>
          </a:xfrm>
          <a:custGeom>
            <a:avLst/>
            <a:gdLst/>
            <a:ahLst/>
            <a:cxnLst/>
            <a:rect r="r" b="b" t="t" l="l"/>
            <a:pathLst>
              <a:path h="2984930" w="3564095">
                <a:moveTo>
                  <a:pt x="0" y="2984929"/>
                </a:moveTo>
                <a:lnTo>
                  <a:pt x="3564095" y="2984929"/>
                </a:lnTo>
                <a:lnTo>
                  <a:pt x="3564095" y="0"/>
                </a:lnTo>
                <a:lnTo>
                  <a:pt x="0" y="0"/>
                </a:lnTo>
                <a:lnTo>
                  <a:pt x="0" y="298492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56960" y="1398688"/>
            <a:ext cx="10374079" cy="8229112"/>
          </a:xfrm>
          <a:custGeom>
            <a:avLst/>
            <a:gdLst/>
            <a:ahLst/>
            <a:cxnLst/>
            <a:rect r="r" b="b" t="t" l="l"/>
            <a:pathLst>
              <a:path h="8229112" w="10374079">
                <a:moveTo>
                  <a:pt x="0" y="0"/>
                </a:moveTo>
                <a:lnTo>
                  <a:pt x="10374080" y="0"/>
                </a:lnTo>
                <a:lnTo>
                  <a:pt x="10374080" y="8229111"/>
                </a:lnTo>
                <a:lnTo>
                  <a:pt x="0" y="82291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9677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217" y="169963"/>
            <a:ext cx="14077566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Desarrollo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4746112" y="87527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1" y="0"/>
                </a:lnTo>
                <a:lnTo>
                  <a:pt x="4527361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3" y="139255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92"/>
            <a:ext cx="2280767" cy="5218151"/>
          </a:xfrm>
          <a:custGeom>
            <a:avLst/>
            <a:gdLst/>
            <a:ahLst/>
            <a:cxnLst/>
            <a:rect r="r" b="b" t="t" l="l"/>
            <a:pathLst>
              <a:path h="5218151" w="2280767">
                <a:moveTo>
                  <a:pt x="0" y="0"/>
                </a:moveTo>
                <a:lnTo>
                  <a:pt x="2280767" y="0"/>
                </a:lnTo>
                <a:lnTo>
                  <a:pt x="2280767" y="5218151"/>
                </a:lnTo>
                <a:lnTo>
                  <a:pt x="0" y="5218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196152" y="7494835"/>
            <a:ext cx="3564095" cy="2984930"/>
          </a:xfrm>
          <a:custGeom>
            <a:avLst/>
            <a:gdLst/>
            <a:ahLst/>
            <a:cxnLst/>
            <a:rect r="r" b="b" t="t" l="l"/>
            <a:pathLst>
              <a:path h="2984930" w="3564095">
                <a:moveTo>
                  <a:pt x="0" y="2984929"/>
                </a:moveTo>
                <a:lnTo>
                  <a:pt x="3564095" y="2984929"/>
                </a:lnTo>
                <a:lnTo>
                  <a:pt x="3564095" y="0"/>
                </a:lnTo>
                <a:lnTo>
                  <a:pt x="0" y="0"/>
                </a:lnTo>
                <a:lnTo>
                  <a:pt x="0" y="298492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066273" y="1398688"/>
            <a:ext cx="10155454" cy="8098975"/>
          </a:xfrm>
          <a:custGeom>
            <a:avLst/>
            <a:gdLst/>
            <a:ahLst/>
            <a:cxnLst/>
            <a:rect r="r" b="b" t="t" l="l"/>
            <a:pathLst>
              <a:path h="8098975" w="10155454">
                <a:moveTo>
                  <a:pt x="0" y="0"/>
                </a:moveTo>
                <a:lnTo>
                  <a:pt x="10155454" y="0"/>
                </a:lnTo>
                <a:lnTo>
                  <a:pt x="10155454" y="8098974"/>
                </a:lnTo>
                <a:lnTo>
                  <a:pt x="0" y="80989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217" y="169963"/>
            <a:ext cx="14077566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Desarrollo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4746112" y="87527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1" y="0"/>
                </a:lnTo>
                <a:lnTo>
                  <a:pt x="4527361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3" y="139255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92"/>
            <a:ext cx="2280767" cy="5218151"/>
          </a:xfrm>
          <a:custGeom>
            <a:avLst/>
            <a:gdLst/>
            <a:ahLst/>
            <a:cxnLst/>
            <a:rect r="r" b="b" t="t" l="l"/>
            <a:pathLst>
              <a:path h="5218151" w="2280767">
                <a:moveTo>
                  <a:pt x="0" y="0"/>
                </a:moveTo>
                <a:lnTo>
                  <a:pt x="2280767" y="0"/>
                </a:lnTo>
                <a:lnTo>
                  <a:pt x="2280767" y="5218151"/>
                </a:lnTo>
                <a:lnTo>
                  <a:pt x="0" y="5218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196152" y="7494835"/>
            <a:ext cx="3564095" cy="2984930"/>
          </a:xfrm>
          <a:custGeom>
            <a:avLst/>
            <a:gdLst/>
            <a:ahLst/>
            <a:cxnLst/>
            <a:rect r="r" b="b" t="t" l="l"/>
            <a:pathLst>
              <a:path h="2984930" w="3564095">
                <a:moveTo>
                  <a:pt x="0" y="2984929"/>
                </a:moveTo>
                <a:lnTo>
                  <a:pt x="3564095" y="2984929"/>
                </a:lnTo>
                <a:lnTo>
                  <a:pt x="3564095" y="0"/>
                </a:lnTo>
                <a:lnTo>
                  <a:pt x="0" y="0"/>
                </a:lnTo>
                <a:lnTo>
                  <a:pt x="0" y="298492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95371" y="1398688"/>
            <a:ext cx="10297258" cy="8096219"/>
          </a:xfrm>
          <a:custGeom>
            <a:avLst/>
            <a:gdLst/>
            <a:ahLst/>
            <a:cxnLst/>
            <a:rect r="r" b="b" t="t" l="l"/>
            <a:pathLst>
              <a:path h="8096219" w="10297258">
                <a:moveTo>
                  <a:pt x="0" y="0"/>
                </a:moveTo>
                <a:lnTo>
                  <a:pt x="10297258" y="0"/>
                </a:lnTo>
                <a:lnTo>
                  <a:pt x="10297258" y="8096219"/>
                </a:lnTo>
                <a:lnTo>
                  <a:pt x="0" y="80962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217" y="169963"/>
            <a:ext cx="14077566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Desarrollo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4746112" y="87527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1" y="0"/>
                </a:lnTo>
                <a:lnTo>
                  <a:pt x="4527361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3" y="139255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92"/>
            <a:ext cx="2280767" cy="5218151"/>
          </a:xfrm>
          <a:custGeom>
            <a:avLst/>
            <a:gdLst/>
            <a:ahLst/>
            <a:cxnLst/>
            <a:rect r="r" b="b" t="t" l="l"/>
            <a:pathLst>
              <a:path h="5218151" w="2280767">
                <a:moveTo>
                  <a:pt x="0" y="0"/>
                </a:moveTo>
                <a:lnTo>
                  <a:pt x="2280767" y="0"/>
                </a:lnTo>
                <a:lnTo>
                  <a:pt x="2280767" y="5218151"/>
                </a:lnTo>
                <a:lnTo>
                  <a:pt x="0" y="5218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196152" y="7494835"/>
            <a:ext cx="3564095" cy="2984930"/>
          </a:xfrm>
          <a:custGeom>
            <a:avLst/>
            <a:gdLst/>
            <a:ahLst/>
            <a:cxnLst/>
            <a:rect r="r" b="b" t="t" l="l"/>
            <a:pathLst>
              <a:path h="2984930" w="3564095">
                <a:moveTo>
                  <a:pt x="0" y="2984929"/>
                </a:moveTo>
                <a:lnTo>
                  <a:pt x="3564095" y="2984929"/>
                </a:lnTo>
                <a:lnTo>
                  <a:pt x="3564095" y="0"/>
                </a:lnTo>
                <a:lnTo>
                  <a:pt x="0" y="0"/>
                </a:lnTo>
                <a:lnTo>
                  <a:pt x="0" y="298492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211916" y="1502684"/>
            <a:ext cx="11864168" cy="7281633"/>
          </a:xfrm>
          <a:custGeom>
            <a:avLst/>
            <a:gdLst/>
            <a:ahLst/>
            <a:cxnLst/>
            <a:rect r="r" b="b" t="t" l="l"/>
            <a:pathLst>
              <a:path h="7281633" w="11864168">
                <a:moveTo>
                  <a:pt x="0" y="0"/>
                </a:moveTo>
                <a:lnTo>
                  <a:pt x="11864168" y="0"/>
                </a:lnTo>
                <a:lnTo>
                  <a:pt x="11864168" y="7281632"/>
                </a:lnTo>
                <a:lnTo>
                  <a:pt x="0" y="72816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217" y="169963"/>
            <a:ext cx="14077566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Desarrollo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4746112" y="87527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1" y="0"/>
                </a:lnTo>
                <a:lnTo>
                  <a:pt x="4527361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3" y="139255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92"/>
            <a:ext cx="2280767" cy="5218151"/>
          </a:xfrm>
          <a:custGeom>
            <a:avLst/>
            <a:gdLst/>
            <a:ahLst/>
            <a:cxnLst/>
            <a:rect r="r" b="b" t="t" l="l"/>
            <a:pathLst>
              <a:path h="5218151" w="2280767">
                <a:moveTo>
                  <a:pt x="0" y="0"/>
                </a:moveTo>
                <a:lnTo>
                  <a:pt x="2280767" y="0"/>
                </a:lnTo>
                <a:lnTo>
                  <a:pt x="2280767" y="5218151"/>
                </a:lnTo>
                <a:lnTo>
                  <a:pt x="0" y="521815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196152" y="7494835"/>
            <a:ext cx="3564095" cy="2984930"/>
          </a:xfrm>
          <a:custGeom>
            <a:avLst/>
            <a:gdLst/>
            <a:ahLst/>
            <a:cxnLst/>
            <a:rect r="r" b="b" t="t" l="l"/>
            <a:pathLst>
              <a:path h="2984930" w="3564095">
                <a:moveTo>
                  <a:pt x="0" y="2984929"/>
                </a:moveTo>
                <a:lnTo>
                  <a:pt x="3564095" y="2984929"/>
                </a:lnTo>
                <a:lnTo>
                  <a:pt x="3564095" y="0"/>
                </a:lnTo>
                <a:lnTo>
                  <a:pt x="0" y="0"/>
                </a:lnTo>
                <a:lnTo>
                  <a:pt x="0" y="298492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105217" y="169963"/>
            <a:ext cx="14077566" cy="1228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600"/>
              </a:lnSpc>
              <a:spcBef>
                <a:spcPct val="0"/>
              </a:spcBef>
            </a:pP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Próximos</a:t>
            </a: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 </a:t>
            </a:r>
            <a:r>
              <a:rPr lang="en-US" b="true" sz="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Pasos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2829954" y="2668184"/>
            <a:ext cx="693348" cy="771999"/>
            <a:chOff x="0" y="0"/>
            <a:chExt cx="5703067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703067" cy="6350000"/>
            </a:xfrm>
            <a:custGeom>
              <a:avLst/>
              <a:gdLst/>
              <a:ahLst/>
              <a:cxnLst/>
              <a:rect r="r" b="b" t="t" l="l"/>
              <a:pathLst>
                <a:path h="6350000" w="5703067">
                  <a:moveTo>
                    <a:pt x="2851534" y="0"/>
                  </a:moveTo>
                  <a:cubicBezTo>
                    <a:pt x="1276675" y="0"/>
                    <a:pt x="0" y="1421496"/>
                    <a:pt x="0" y="3175000"/>
                  </a:cubicBezTo>
                  <a:cubicBezTo>
                    <a:pt x="0" y="4928504"/>
                    <a:pt x="1276675" y="6350000"/>
                    <a:pt x="2851534" y="6350000"/>
                  </a:cubicBezTo>
                  <a:cubicBezTo>
                    <a:pt x="4426392" y="6350000"/>
                    <a:pt x="5703067" y="4928504"/>
                    <a:pt x="5703067" y="3175000"/>
                  </a:cubicBezTo>
                  <a:cubicBezTo>
                    <a:pt x="5703067" y="1421496"/>
                    <a:pt x="4426392" y="0"/>
                    <a:pt x="285153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2829954" y="3948025"/>
            <a:ext cx="693348" cy="771999"/>
            <a:chOff x="0" y="0"/>
            <a:chExt cx="5703067" cy="6350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703067" cy="6350000"/>
            </a:xfrm>
            <a:custGeom>
              <a:avLst/>
              <a:gdLst/>
              <a:ahLst/>
              <a:cxnLst/>
              <a:rect r="r" b="b" t="t" l="l"/>
              <a:pathLst>
                <a:path h="6350000" w="5703067">
                  <a:moveTo>
                    <a:pt x="2851534" y="0"/>
                  </a:moveTo>
                  <a:cubicBezTo>
                    <a:pt x="1276675" y="0"/>
                    <a:pt x="0" y="1421496"/>
                    <a:pt x="0" y="3175000"/>
                  </a:cubicBezTo>
                  <a:cubicBezTo>
                    <a:pt x="0" y="4928504"/>
                    <a:pt x="1276675" y="6350000"/>
                    <a:pt x="2851534" y="6350000"/>
                  </a:cubicBezTo>
                  <a:cubicBezTo>
                    <a:pt x="4426392" y="6350000"/>
                    <a:pt x="5703067" y="4928504"/>
                    <a:pt x="5703067" y="3175000"/>
                  </a:cubicBezTo>
                  <a:cubicBezTo>
                    <a:pt x="5703067" y="1421496"/>
                    <a:pt x="4426392" y="0"/>
                    <a:pt x="285153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4029071" y="2437725"/>
            <a:ext cx="10922858" cy="963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42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Ejecución completa del Plan de pruebas.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029071" y="3690134"/>
            <a:ext cx="11342091" cy="963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8400"/>
              </a:lnSpc>
              <a:spcBef>
                <a:spcPct val="0"/>
              </a:spcBef>
            </a:pPr>
            <a:r>
              <a:rPr lang="en-US" sz="42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Ajustes necesarios por retroalimentación.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2829954" y="5329623"/>
            <a:ext cx="693348" cy="771999"/>
            <a:chOff x="0" y="0"/>
            <a:chExt cx="5703067" cy="6350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703067" cy="6350000"/>
            </a:xfrm>
            <a:custGeom>
              <a:avLst/>
              <a:gdLst/>
              <a:ahLst/>
              <a:cxnLst/>
              <a:rect r="r" b="b" t="t" l="l"/>
              <a:pathLst>
                <a:path h="6350000" w="5703067">
                  <a:moveTo>
                    <a:pt x="2851534" y="0"/>
                  </a:moveTo>
                  <a:cubicBezTo>
                    <a:pt x="1276675" y="0"/>
                    <a:pt x="0" y="1421496"/>
                    <a:pt x="0" y="3175000"/>
                  </a:cubicBezTo>
                  <a:cubicBezTo>
                    <a:pt x="0" y="4928504"/>
                    <a:pt x="1276675" y="6350000"/>
                    <a:pt x="2851534" y="6350000"/>
                  </a:cubicBezTo>
                  <a:cubicBezTo>
                    <a:pt x="4426392" y="6350000"/>
                    <a:pt x="5703067" y="4928504"/>
                    <a:pt x="5703067" y="3175000"/>
                  </a:cubicBezTo>
                  <a:cubicBezTo>
                    <a:pt x="5703067" y="1421496"/>
                    <a:pt x="4426392" y="0"/>
                    <a:pt x="285153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4029071" y="5071733"/>
            <a:ext cx="11342091" cy="963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8400"/>
              </a:lnSpc>
              <a:spcBef>
                <a:spcPct val="0"/>
              </a:spcBef>
            </a:pPr>
            <a:r>
              <a:rPr lang="en-US" sz="42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Manual de usuario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829954" y="6711222"/>
            <a:ext cx="693348" cy="771999"/>
            <a:chOff x="0" y="0"/>
            <a:chExt cx="5703067" cy="6350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703067" cy="6350000"/>
            </a:xfrm>
            <a:custGeom>
              <a:avLst/>
              <a:gdLst/>
              <a:ahLst/>
              <a:cxnLst/>
              <a:rect r="r" b="b" t="t" l="l"/>
              <a:pathLst>
                <a:path h="6350000" w="5703067">
                  <a:moveTo>
                    <a:pt x="2851534" y="0"/>
                  </a:moveTo>
                  <a:cubicBezTo>
                    <a:pt x="1276675" y="0"/>
                    <a:pt x="0" y="1421496"/>
                    <a:pt x="0" y="3175000"/>
                  </a:cubicBezTo>
                  <a:cubicBezTo>
                    <a:pt x="0" y="4928504"/>
                    <a:pt x="1276675" y="6350000"/>
                    <a:pt x="2851534" y="6350000"/>
                  </a:cubicBezTo>
                  <a:cubicBezTo>
                    <a:pt x="4426392" y="6350000"/>
                    <a:pt x="5703067" y="4928504"/>
                    <a:pt x="5703067" y="3175000"/>
                  </a:cubicBezTo>
                  <a:cubicBezTo>
                    <a:pt x="5703067" y="1421496"/>
                    <a:pt x="4426392" y="0"/>
                    <a:pt x="285153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4029071" y="6453332"/>
            <a:ext cx="11342091" cy="963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8400"/>
              </a:lnSpc>
              <a:spcBef>
                <a:spcPct val="0"/>
              </a:spcBef>
            </a:pPr>
            <a:r>
              <a:rPr lang="en-US" sz="420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Lecciones aprendidas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71525" y="3352165"/>
            <a:ext cx="16744950" cy="308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199"/>
              </a:lnSpc>
              <a:spcBef>
                <a:spcPct val="0"/>
              </a:spcBef>
            </a:pPr>
            <a:r>
              <a:rPr lang="en-US" b="true" sz="18000">
                <a:solidFill>
                  <a:srgbClr val="FFFFFF"/>
                </a:solidFill>
                <a:latin typeface="Raleway Bold"/>
                <a:ea typeface="Raleway Bold"/>
                <a:cs typeface="Raleway Bold"/>
                <a:sym typeface="Raleway Bold"/>
              </a:rPr>
              <a:t>¡Gracias!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2947146" y="3552472"/>
            <a:ext cx="5571779" cy="6878740"/>
          </a:xfrm>
          <a:custGeom>
            <a:avLst/>
            <a:gdLst/>
            <a:ahLst/>
            <a:cxnLst/>
            <a:rect r="r" b="b" t="t" l="l"/>
            <a:pathLst>
              <a:path h="6878740" w="5571779">
                <a:moveTo>
                  <a:pt x="0" y="0"/>
                </a:moveTo>
                <a:lnTo>
                  <a:pt x="5571779" y="0"/>
                </a:lnTo>
                <a:lnTo>
                  <a:pt x="5571779" y="6878739"/>
                </a:lnTo>
                <a:lnTo>
                  <a:pt x="0" y="68787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0" y="0"/>
            <a:ext cx="4363296" cy="5966900"/>
          </a:xfrm>
          <a:custGeom>
            <a:avLst/>
            <a:gdLst/>
            <a:ahLst/>
            <a:cxnLst/>
            <a:rect r="r" b="b" t="t" l="l"/>
            <a:pathLst>
              <a:path h="5966900" w="4363296">
                <a:moveTo>
                  <a:pt x="0" y="0"/>
                </a:moveTo>
                <a:lnTo>
                  <a:pt x="4363296" y="0"/>
                </a:lnTo>
                <a:lnTo>
                  <a:pt x="4363296" y="5966900"/>
                </a:lnTo>
                <a:lnTo>
                  <a:pt x="0" y="5966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-420124" y="859898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1"/>
                </a:lnTo>
                <a:lnTo>
                  <a:pt x="0" y="1011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0800000">
            <a:off x="13991563" y="523145"/>
            <a:ext cx="4527362" cy="1011111"/>
          </a:xfrm>
          <a:custGeom>
            <a:avLst/>
            <a:gdLst/>
            <a:ahLst/>
            <a:cxnLst/>
            <a:rect r="r" b="b" t="t" l="l"/>
            <a:pathLst>
              <a:path h="1011111" w="4527362">
                <a:moveTo>
                  <a:pt x="0" y="0"/>
                </a:moveTo>
                <a:lnTo>
                  <a:pt x="4527362" y="0"/>
                </a:lnTo>
                <a:lnTo>
                  <a:pt x="4527362" y="1011110"/>
                </a:lnTo>
                <a:lnTo>
                  <a:pt x="0" y="101111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DAG1b1LTTtw</dc:identifier>
  <dcterms:modified xsi:type="dcterms:W3CDTF">2011-08-01T06:04:30Z</dcterms:modified>
  <cp:revision>1</cp:revision>
  <dc:title>Presentación Proyecto</dc:title>
</cp:coreProperties>
</file>